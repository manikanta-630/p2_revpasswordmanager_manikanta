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63" r:id="rId4"/>
    <p:sldId id="258" r:id="rId5"/>
    <p:sldId id="267" r:id="rId6"/>
    <p:sldId id="259" r:id="rId7"/>
    <p:sldId id="260" r:id="rId8"/>
    <p:sldId id="261" r:id="rId9"/>
    <p:sldId id="262" r:id="rId10"/>
    <p:sldId id="264" r:id="rId11"/>
    <p:sldId id="265" r:id="rId12"/>
    <p:sldId id="266" r:id="rId13"/>
    <p:sldId id="268" r:id="rId14"/>
    <p:sldId id="269" r:id="rId15"/>
  </p:sldIdLst>
  <p:sldSz cx="14630400" cy="8229600"/>
  <p:notesSz cx="8229600" cy="14630400"/>
  <p:embeddedFontLst>
    <p:embeddedFont>
      <p:font typeface="DM Sans Medium" pitchFamily="2" charset="0"/>
      <p:regular r:id="rId17"/>
    </p:embeddedFont>
    <p:embeddedFont>
      <p:font typeface="Inter"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1074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9.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204332"/>
            <a:ext cx="5800725" cy="2913325"/>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RevPasswordManager</a:t>
            </a:r>
            <a:endParaRPr lang="en-US" sz="4450" dirty="0"/>
          </a:p>
        </p:txBody>
      </p:sp>
      <p:sp>
        <p:nvSpPr>
          <p:cNvPr id="4" name="Text 1"/>
          <p:cNvSpPr/>
          <p:nvPr/>
        </p:nvSpPr>
        <p:spPr>
          <a:xfrm>
            <a:off x="793790" y="2129883"/>
            <a:ext cx="7556421" cy="2690839"/>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A secure and intuitive solution for managing your digital credentials.</a:t>
            </a:r>
            <a:endParaRPr lang="en-US" sz="1750" dirty="0"/>
          </a:p>
        </p:txBody>
      </p:sp>
      <p:sp>
        <p:nvSpPr>
          <p:cNvPr id="6" name="TextBox 5">
            <a:extLst>
              <a:ext uri="{FF2B5EF4-FFF2-40B4-BE49-F238E27FC236}">
                <a16:creationId xmlns:a16="http://schemas.microsoft.com/office/drawing/2014/main" id="{C957C1F1-D68C-6B36-9A3C-5C18EBE99E7A}"/>
              </a:ext>
            </a:extLst>
          </p:cNvPr>
          <p:cNvSpPr txBox="1"/>
          <p:nvPr/>
        </p:nvSpPr>
        <p:spPr>
          <a:xfrm>
            <a:off x="3802566" y="3914078"/>
            <a:ext cx="4547645" cy="3516925"/>
          </a:xfrm>
          <a:prstGeom prst="rect">
            <a:avLst/>
          </a:prstGeom>
          <a:noFill/>
        </p:spPr>
        <p:txBody>
          <a:bodyPr wrap="square" rtlCol="0">
            <a:spAutoFit/>
          </a:bodyPr>
          <a:lstStyle/>
          <a:p>
            <a:pPr>
              <a:lnSpc>
                <a:spcPct val="150000"/>
              </a:lnSpc>
            </a:pPr>
            <a:r>
              <a:rPr lang="en-US" sz="2400" b="1" dirty="0">
                <a:latin typeface="DM Sans Medium" pitchFamily="2" charset="0"/>
              </a:rPr>
              <a:t>Developed By:</a:t>
            </a:r>
          </a:p>
          <a:p>
            <a:pPr>
              <a:lnSpc>
                <a:spcPct val="150000"/>
              </a:lnSpc>
            </a:pPr>
            <a:endParaRPr lang="en-US" dirty="0">
              <a:latin typeface="DM Sans Medium" pitchFamily="2" charset="0"/>
            </a:endParaRPr>
          </a:p>
          <a:p>
            <a:pPr marL="285750" indent="-285750">
              <a:lnSpc>
                <a:spcPct val="150000"/>
              </a:lnSpc>
              <a:buFont typeface="Arial" panose="020B0604020202020204" pitchFamily="34" charset="0"/>
              <a:buChar char="•"/>
            </a:pPr>
            <a:r>
              <a:rPr lang="en-US" dirty="0" err="1">
                <a:latin typeface="DM Sans Medium" pitchFamily="2" charset="0"/>
              </a:rPr>
              <a:t>Cheruku</a:t>
            </a:r>
            <a:r>
              <a:rPr lang="en-US" dirty="0">
                <a:latin typeface="DM Sans Medium" pitchFamily="2" charset="0"/>
              </a:rPr>
              <a:t> Sidhu</a:t>
            </a:r>
          </a:p>
          <a:p>
            <a:pPr marL="285750" indent="-285750">
              <a:lnSpc>
                <a:spcPct val="150000"/>
              </a:lnSpc>
              <a:buFont typeface="Arial" panose="020B0604020202020204" pitchFamily="34" charset="0"/>
              <a:buChar char="•"/>
            </a:pPr>
            <a:r>
              <a:rPr lang="en-US" dirty="0" err="1">
                <a:latin typeface="DM Sans Medium" pitchFamily="2" charset="0"/>
              </a:rPr>
              <a:t>Begari</a:t>
            </a:r>
            <a:r>
              <a:rPr lang="en-US" dirty="0">
                <a:latin typeface="DM Sans Medium" pitchFamily="2" charset="0"/>
              </a:rPr>
              <a:t> Rahul</a:t>
            </a:r>
          </a:p>
          <a:p>
            <a:pPr marL="285750" indent="-285750">
              <a:lnSpc>
                <a:spcPct val="150000"/>
              </a:lnSpc>
              <a:buFont typeface="Arial" panose="020B0604020202020204" pitchFamily="34" charset="0"/>
              <a:buChar char="•"/>
            </a:pPr>
            <a:r>
              <a:rPr lang="en-US" dirty="0" err="1">
                <a:latin typeface="DM Sans Medium" pitchFamily="2" charset="0"/>
              </a:rPr>
              <a:t>Deety</a:t>
            </a:r>
            <a:r>
              <a:rPr lang="en-US" dirty="0">
                <a:latin typeface="DM Sans Medium" pitchFamily="2" charset="0"/>
              </a:rPr>
              <a:t> Venkatesh</a:t>
            </a:r>
          </a:p>
          <a:p>
            <a:pPr marL="285750" indent="-285750">
              <a:lnSpc>
                <a:spcPct val="150000"/>
              </a:lnSpc>
              <a:buFont typeface="Arial" panose="020B0604020202020204" pitchFamily="34" charset="0"/>
              <a:buChar char="•"/>
            </a:pPr>
            <a:r>
              <a:rPr lang="en-US" dirty="0" err="1">
                <a:latin typeface="DM Sans Medium" pitchFamily="2" charset="0"/>
              </a:rPr>
              <a:t>Lingampally</a:t>
            </a:r>
            <a:r>
              <a:rPr lang="en-US" dirty="0">
                <a:latin typeface="DM Sans Medium" pitchFamily="2" charset="0"/>
              </a:rPr>
              <a:t> Ganesh</a:t>
            </a:r>
          </a:p>
          <a:p>
            <a:pPr marL="285750" indent="-285750">
              <a:lnSpc>
                <a:spcPct val="150000"/>
              </a:lnSpc>
              <a:buFont typeface="Arial" panose="020B0604020202020204" pitchFamily="34" charset="0"/>
              <a:buChar char="•"/>
            </a:pPr>
            <a:r>
              <a:rPr lang="en-US" dirty="0" err="1">
                <a:latin typeface="DM Sans Medium" pitchFamily="2" charset="0"/>
              </a:rPr>
              <a:t>Gavinimekala</a:t>
            </a:r>
            <a:r>
              <a:rPr lang="en-US" dirty="0">
                <a:latin typeface="DM Sans Medium" pitchFamily="2" charset="0"/>
              </a:rPr>
              <a:t> </a:t>
            </a:r>
            <a:r>
              <a:rPr lang="en-US" dirty="0" err="1">
                <a:latin typeface="DM Sans Medium" pitchFamily="2" charset="0"/>
              </a:rPr>
              <a:t>Manikanta</a:t>
            </a:r>
            <a:endParaRPr lang="en-US" dirty="0">
              <a:latin typeface="DM Sans Medium" pitchFamily="2" charset="0"/>
            </a:endParaRPr>
          </a:p>
          <a:p>
            <a:pPr marL="285750" indent="-285750">
              <a:lnSpc>
                <a:spcPct val="150000"/>
              </a:lnSpc>
              <a:buFont typeface="Arial" panose="020B0604020202020204" pitchFamily="34" charset="0"/>
              <a:buChar char="•"/>
            </a:pPr>
            <a:r>
              <a:rPr lang="en-US" dirty="0">
                <a:latin typeface="DM Sans Medium" pitchFamily="2" charset="0"/>
              </a:rPr>
              <a:t>Palagani Charitha Sri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418630"/>
            <a:ext cx="10475476"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Application Overview: Your Digital Vault</a:t>
            </a:r>
            <a:endParaRPr lang="en-US" sz="4450" dirty="0"/>
          </a:p>
        </p:txBody>
      </p:sp>
      <p:sp>
        <p:nvSpPr>
          <p:cNvPr id="3" name="Text 1"/>
          <p:cNvSpPr/>
          <p:nvPr/>
        </p:nvSpPr>
        <p:spPr>
          <a:xfrm>
            <a:off x="793790" y="2581037"/>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RevPasswordManager is a full-stack, monolithic web application designed to provide robust security for your online accounts. It allows users to securely store, generate, and manage their passwords with ease, prioritising encryption, master password protection, and two-factor authentication.</a:t>
            </a:r>
            <a:endParaRPr lang="en-US" sz="17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3924895"/>
            <a:ext cx="566976" cy="566976"/>
          </a:xfrm>
          <a:prstGeom prst="rect">
            <a:avLst/>
          </a:prstGeom>
        </p:spPr>
      </p:pic>
      <p:sp>
        <p:nvSpPr>
          <p:cNvPr id="5" name="Text 2"/>
          <p:cNvSpPr/>
          <p:nvPr/>
        </p:nvSpPr>
        <p:spPr>
          <a:xfrm>
            <a:off x="1644253" y="392489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Secure Vault</a:t>
            </a:r>
            <a:endParaRPr lang="en-US" sz="2200" dirty="0"/>
          </a:p>
        </p:txBody>
      </p:sp>
      <p:sp>
        <p:nvSpPr>
          <p:cNvPr id="6" name="Text 3"/>
          <p:cNvSpPr/>
          <p:nvPr/>
        </p:nvSpPr>
        <p:spPr>
          <a:xfrm>
            <a:off x="1644253" y="4415314"/>
            <a:ext cx="5529143"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Encrypt and store all your account credentials in one place.</a:t>
            </a:r>
            <a:endParaRPr lang="en-US" sz="175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56884" y="3924895"/>
            <a:ext cx="566976" cy="566976"/>
          </a:xfrm>
          <a:prstGeom prst="rect">
            <a:avLst/>
          </a:prstGeom>
        </p:spPr>
      </p:pic>
      <p:sp>
        <p:nvSpPr>
          <p:cNvPr id="8" name="Text 4"/>
          <p:cNvSpPr/>
          <p:nvPr/>
        </p:nvSpPr>
        <p:spPr>
          <a:xfrm>
            <a:off x="8307348" y="392489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Master Password</a:t>
            </a:r>
            <a:endParaRPr lang="en-US" sz="2200" dirty="0"/>
          </a:p>
        </p:txBody>
      </p:sp>
      <p:sp>
        <p:nvSpPr>
          <p:cNvPr id="9" name="Text 5"/>
          <p:cNvSpPr/>
          <p:nvPr/>
        </p:nvSpPr>
        <p:spPr>
          <a:xfrm>
            <a:off x="8307348" y="4415314"/>
            <a:ext cx="5529263"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Your single key to unlock and protect all your stored information.</a:t>
            </a:r>
            <a:endParaRPr lang="en-US" sz="175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3790" y="5594747"/>
            <a:ext cx="566976" cy="566976"/>
          </a:xfrm>
          <a:prstGeom prst="rect">
            <a:avLst/>
          </a:prstGeom>
        </p:spPr>
      </p:pic>
      <p:sp>
        <p:nvSpPr>
          <p:cNvPr id="11" name="Text 6"/>
          <p:cNvSpPr/>
          <p:nvPr/>
        </p:nvSpPr>
        <p:spPr>
          <a:xfrm>
            <a:off x="1644253" y="5594747"/>
            <a:ext cx="3608189"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Two-Factor Authentication</a:t>
            </a:r>
            <a:endParaRPr lang="en-US" sz="2200" dirty="0"/>
          </a:p>
        </p:txBody>
      </p:sp>
      <p:sp>
        <p:nvSpPr>
          <p:cNvPr id="12" name="Text 7"/>
          <p:cNvSpPr/>
          <p:nvPr/>
        </p:nvSpPr>
        <p:spPr>
          <a:xfrm>
            <a:off x="1644253" y="6085165"/>
            <a:ext cx="5529143"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Add an extra layer of security to your account access.</a:t>
            </a:r>
            <a:endParaRPr lang="en-US" sz="1750" dirty="0"/>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56884" y="5594747"/>
            <a:ext cx="566976" cy="566976"/>
          </a:xfrm>
          <a:prstGeom prst="rect">
            <a:avLst/>
          </a:prstGeom>
        </p:spPr>
      </p:pic>
      <p:sp>
        <p:nvSpPr>
          <p:cNvPr id="14" name="Text 8"/>
          <p:cNvSpPr/>
          <p:nvPr/>
        </p:nvSpPr>
        <p:spPr>
          <a:xfrm>
            <a:off x="8307348" y="5594747"/>
            <a:ext cx="3795474"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Strong Password Generation</a:t>
            </a:r>
            <a:endParaRPr lang="en-US" sz="2200" dirty="0"/>
          </a:p>
        </p:txBody>
      </p:sp>
      <p:sp>
        <p:nvSpPr>
          <p:cNvPr id="15" name="Text 9"/>
          <p:cNvSpPr/>
          <p:nvPr/>
        </p:nvSpPr>
        <p:spPr>
          <a:xfrm>
            <a:off x="8307348" y="6085165"/>
            <a:ext cx="5529263"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Create robust, random passwords with customizable parameters.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2459236"/>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Tech Stack</a:t>
            </a:r>
            <a:endParaRPr lang="en-US" sz="4450" dirty="0"/>
          </a:p>
        </p:txBody>
      </p:sp>
      <p:sp>
        <p:nvSpPr>
          <p:cNvPr id="3" name="Text 1"/>
          <p:cNvSpPr/>
          <p:nvPr/>
        </p:nvSpPr>
        <p:spPr>
          <a:xfrm>
            <a:off x="793790" y="3621643"/>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Built with modern and secure technologies to ensure reliability and performance.</a:t>
            </a:r>
            <a:endParaRPr lang="en-US" sz="1750" dirty="0"/>
          </a:p>
        </p:txBody>
      </p:sp>
      <p:sp>
        <p:nvSpPr>
          <p:cNvPr id="4" name="Text 2"/>
          <p:cNvSpPr/>
          <p:nvPr/>
        </p:nvSpPr>
        <p:spPr>
          <a:xfrm>
            <a:off x="793790" y="4443770"/>
            <a:ext cx="6244709" cy="124729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161613"/>
                </a:solidFill>
                <a:latin typeface="Inter" pitchFamily="34" charset="0"/>
                <a:ea typeface="Inter" pitchFamily="34" charset="-122"/>
                <a:cs typeface="Inter" pitchFamily="34" charset="-120"/>
              </a:rPr>
              <a:t>Frontend: HTML (</a:t>
            </a:r>
            <a:r>
              <a:rPr lang="en-US" sz="1750" dirty="0" err="1">
                <a:solidFill>
                  <a:srgbClr val="161613"/>
                </a:solidFill>
                <a:latin typeface="Inter" pitchFamily="34" charset="0"/>
                <a:ea typeface="Inter" pitchFamily="34" charset="-122"/>
                <a:cs typeface="Inter" pitchFamily="34" charset="-120"/>
              </a:rPr>
              <a:t>Thymeleaf</a:t>
            </a:r>
            <a:r>
              <a:rPr lang="en-US" sz="1750" dirty="0">
                <a:solidFill>
                  <a:srgbClr val="161613"/>
                </a:solidFill>
                <a:latin typeface="Inter" pitchFamily="34" charset="0"/>
                <a:ea typeface="Inter" pitchFamily="34" charset="-122"/>
                <a:cs typeface="Inter" pitchFamily="34" charset="-120"/>
              </a:rPr>
              <a:t>), CSS, JavaScript</a:t>
            </a:r>
            <a:endParaRPr lang="en-US" sz="1750" dirty="0"/>
          </a:p>
          <a:p>
            <a:pPr marL="342900" indent="-342900" algn="l">
              <a:lnSpc>
                <a:spcPts val="2850"/>
              </a:lnSpc>
              <a:buSzPct val="100000"/>
              <a:buChar char="•"/>
            </a:pPr>
            <a:r>
              <a:rPr lang="en-US" sz="1750" dirty="0">
                <a:solidFill>
                  <a:srgbClr val="161613"/>
                </a:solidFill>
                <a:latin typeface="Inter" pitchFamily="34" charset="0"/>
                <a:ea typeface="Inter" pitchFamily="34" charset="-122"/>
                <a:cs typeface="Inter" pitchFamily="34" charset="-120"/>
              </a:rPr>
              <a:t>Backend: Java, </a:t>
            </a:r>
            <a:r>
              <a:rPr lang="en-US" sz="1750" dirty="0" err="1">
                <a:solidFill>
                  <a:srgbClr val="161613"/>
                </a:solidFill>
                <a:latin typeface="Inter" pitchFamily="34" charset="0"/>
                <a:ea typeface="Inter" pitchFamily="34" charset="-122"/>
                <a:cs typeface="Inter" pitchFamily="34" charset="-120"/>
              </a:rPr>
              <a:t>Springboot</a:t>
            </a:r>
            <a:r>
              <a:rPr lang="en-US" sz="1750" dirty="0">
                <a:solidFill>
                  <a:srgbClr val="161613"/>
                </a:solidFill>
                <a:latin typeface="Inter" pitchFamily="34" charset="0"/>
                <a:ea typeface="Inter" pitchFamily="34" charset="-122"/>
                <a:cs typeface="Inter" pitchFamily="34" charset="-120"/>
              </a:rPr>
              <a:t>, Log4j, Junit 5</a:t>
            </a:r>
            <a:endParaRPr lang="en-US" sz="1750" dirty="0"/>
          </a:p>
          <a:p>
            <a:pPr marL="342900" indent="-342900" algn="l">
              <a:lnSpc>
                <a:spcPts val="2850"/>
              </a:lnSpc>
              <a:buSzPct val="100000"/>
              <a:buChar char="•"/>
            </a:pPr>
            <a:r>
              <a:rPr lang="en-US" sz="1750" dirty="0">
                <a:solidFill>
                  <a:srgbClr val="161613"/>
                </a:solidFill>
                <a:latin typeface="Inter" pitchFamily="34" charset="0"/>
                <a:ea typeface="Inter" pitchFamily="34" charset="-122"/>
                <a:cs typeface="Inter" pitchFamily="34" charset="-120"/>
              </a:rPr>
              <a:t>Database: Oracle</a:t>
            </a:r>
          </a:p>
          <a:p>
            <a:pPr marL="342900" indent="-342900" algn="l">
              <a:lnSpc>
                <a:spcPts val="2850"/>
              </a:lnSpc>
              <a:buSzPct val="100000"/>
              <a:buChar char="•"/>
            </a:pPr>
            <a:r>
              <a:rPr lang="en-US" sz="1750" dirty="0">
                <a:solidFill>
                  <a:srgbClr val="161613"/>
                </a:solidFill>
                <a:latin typeface="Inter" pitchFamily="34" charset="0"/>
                <a:ea typeface="Inter" pitchFamily="34" charset="-122"/>
              </a:rPr>
              <a:t>Tools: Git</a:t>
            </a:r>
            <a:endParaRPr lang="en-US" sz="1750" dirty="0"/>
          </a:p>
        </p:txBody>
      </p:sp>
      <p:pic>
        <p:nvPicPr>
          <p:cNvPr id="5" name="Image 0" descr="preencoded.png"/>
          <p:cNvPicPr>
            <a:picLocks noChangeAspect="1"/>
          </p:cNvPicPr>
          <p:nvPr/>
        </p:nvPicPr>
        <p:blipFill>
          <a:blip r:embed="rId3"/>
          <a:stretch>
            <a:fillRect/>
          </a:stretch>
        </p:blipFill>
        <p:spPr>
          <a:xfrm>
            <a:off x="8839081" y="4454843"/>
            <a:ext cx="1134189" cy="907256"/>
          </a:xfrm>
          <a:prstGeom prst="rect">
            <a:avLst/>
          </a:prstGeom>
        </p:spPr>
      </p:pic>
      <p:pic>
        <p:nvPicPr>
          <p:cNvPr id="6" name="Image 1" descr="preencoded.png"/>
          <p:cNvPicPr>
            <a:picLocks noChangeAspect="1"/>
          </p:cNvPicPr>
          <p:nvPr/>
        </p:nvPicPr>
        <p:blipFill>
          <a:blip r:embed="rId4"/>
          <a:stretch>
            <a:fillRect/>
          </a:stretch>
        </p:blipFill>
        <p:spPr>
          <a:xfrm>
            <a:off x="10154722" y="4454843"/>
            <a:ext cx="1134189" cy="907256"/>
          </a:xfrm>
          <a:prstGeom prst="rect">
            <a:avLst/>
          </a:prstGeom>
        </p:spPr>
      </p:pic>
      <p:pic>
        <p:nvPicPr>
          <p:cNvPr id="7" name="Image 2" descr="preencoded.png"/>
          <p:cNvPicPr>
            <a:picLocks noChangeAspect="1"/>
          </p:cNvPicPr>
          <p:nvPr/>
        </p:nvPicPr>
        <p:blipFill>
          <a:blip r:embed="rId5"/>
          <a:stretch>
            <a:fillRect/>
          </a:stretch>
        </p:blipFill>
        <p:spPr>
          <a:xfrm>
            <a:off x="11470362" y="4454843"/>
            <a:ext cx="1134189" cy="90725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534358" y="665798"/>
            <a:ext cx="9517499" cy="523518"/>
          </a:xfrm>
          <a:prstGeom prst="rect">
            <a:avLst/>
          </a:prstGeom>
          <a:noFill/>
          <a:ln/>
        </p:spPr>
        <p:txBody>
          <a:bodyPr wrap="none" lIns="0" tIns="0" rIns="0" bIns="0" rtlCol="0" anchor="t"/>
          <a:lstStyle/>
          <a:p>
            <a:pPr marL="0" indent="0" algn="l">
              <a:lnSpc>
                <a:spcPts val="4100"/>
              </a:lnSpc>
              <a:buNone/>
            </a:pPr>
            <a:r>
              <a:rPr lang="en-US" sz="3250" dirty="0">
                <a:solidFill>
                  <a:srgbClr val="161613"/>
                </a:solidFill>
                <a:latin typeface="DM Sans Medium" pitchFamily="34" charset="0"/>
                <a:ea typeface="DM Sans Medium" pitchFamily="34" charset="-122"/>
                <a:cs typeface="DM Sans Medium" pitchFamily="34" charset="-120"/>
              </a:rPr>
              <a:t>Core Functional Requirements: User Capabilities</a:t>
            </a:r>
            <a:endParaRPr lang="en-US" sz="3250" dirty="0"/>
          </a:p>
        </p:txBody>
      </p:sp>
      <p:sp>
        <p:nvSpPr>
          <p:cNvPr id="3" name="Text 1"/>
          <p:cNvSpPr/>
          <p:nvPr/>
        </p:nvSpPr>
        <p:spPr>
          <a:xfrm>
            <a:off x="1534358" y="1436846"/>
            <a:ext cx="11561683" cy="466011"/>
          </a:xfrm>
          <a:prstGeom prst="rect">
            <a:avLst/>
          </a:prstGeom>
          <a:noFill/>
          <a:ln/>
        </p:spPr>
        <p:txBody>
          <a:bodyPr wrap="square" lIns="0" tIns="0" rIns="0" bIns="0" rtlCol="0" anchor="t"/>
          <a:lstStyle/>
          <a:p>
            <a:pPr marL="0" indent="0" algn="l">
              <a:lnSpc>
                <a:spcPts val="1800"/>
              </a:lnSpc>
              <a:buNone/>
            </a:pPr>
            <a:r>
              <a:rPr lang="en-US" sz="1300" dirty="0">
                <a:solidFill>
                  <a:srgbClr val="161613"/>
                </a:solidFill>
                <a:latin typeface="Inter" pitchFamily="34" charset="0"/>
                <a:ea typeface="Inter" pitchFamily="34" charset="-122"/>
                <a:cs typeface="Inter" pitchFamily="34" charset="-120"/>
              </a:rPr>
              <a:t>Our password manager is built around a comprehensive set of features, ensuring a seamless and secure user experience for every aspect of password management.</a:t>
            </a:r>
            <a:endParaRPr lang="en-US" sz="1300" dirty="0"/>
          </a:p>
        </p:txBody>
      </p:sp>
      <p:sp>
        <p:nvSpPr>
          <p:cNvPr id="4" name="Shape 2"/>
          <p:cNvSpPr/>
          <p:nvPr/>
        </p:nvSpPr>
        <p:spPr>
          <a:xfrm>
            <a:off x="1534358" y="2042041"/>
            <a:ext cx="11561683" cy="1005364"/>
          </a:xfrm>
          <a:prstGeom prst="roundRect">
            <a:avLst>
              <a:gd name="adj" fmla="val 2500"/>
            </a:avLst>
          </a:prstGeom>
          <a:solidFill>
            <a:srgbClr val="F9F8F5"/>
          </a:solidFill>
          <a:ln w="22860">
            <a:solidFill>
              <a:srgbClr val="D3D1C9"/>
            </a:solidFill>
            <a:prstDash val="solid"/>
          </a:ln>
        </p:spPr>
      </p:sp>
      <p:sp>
        <p:nvSpPr>
          <p:cNvPr id="5" name="Shape 3"/>
          <p:cNvSpPr/>
          <p:nvPr/>
        </p:nvSpPr>
        <p:spPr>
          <a:xfrm>
            <a:off x="1557218" y="2064901"/>
            <a:ext cx="670203" cy="959644"/>
          </a:xfrm>
          <a:prstGeom prst="rect">
            <a:avLst/>
          </a:prstGeom>
          <a:solidFill>
            <a:srgbClr val="EDEBE3"/>
          </a:solidFill>
          <a:ln/>
        </p:spPr>
      </p:sp>
      <p:sp>
        <p:nvSpPr>
          <p:cNvPr id="6" name="Text 4"/>
          <p:cNvSpPr/>
          <p:nvPr/>
        </p:nvSpPr>
        <p:spPr>
          <a:xfrm>
            <a:off x="1766649" y="2387679"/>
            <a:ext cx="251341" cy="314087"/>
          </a:xfrm>
          <a:prstGeom prst="rect">
            <a:avLst/>
          </a:prstGeom>
          <a:noFill/>
          <a:ln/>
        </p:spPr>
        <p:txBody>
          <a:bodyPr wrap="none" lIns="0" tIns="0" rIns="0" bIns="0" rtlCol="0" anchor="t"/>
          <a:lstStyle/>
          <a:p>
            <a:pPr marL="0" indent="0" algn="l">
              <a:lnSpc>
                <a:spcPts val="1950"/>
              </a:lnSpc>
              <a:buNone/>
            </a:pPr>
            <a:r>
              <a:rPr lang="en-US" sz="1950" dirty="0">
                <a:solidFill>
                  <a:srgbClr val="161613"/>
                </a:solidFill>
                <a:latin typeface="DM Sans Medium" pitchFamily="34" charset="0"/>
                <a:ea typeface="DM Sans Medium" pitchFamily="34" charset="-122"/>
                <a:cs typeface="DM Sans Medium" pitchFamily="34" charset="-120"/>
              </a:rPr>
              <a:t>1</a:t>
            </a:r>
            <a:endParaRPr lang="en-US" sz="1950" dirty="0"/>
          </a:p>
        </p:txBody>
      </p:sp>
      <p:sp>
        <p:nvSpPr>
          <p:cNvPr id="7" name="Text 5"/>
          <p:cNvSpPr/>
          <p:nvPr/>
        </p:nvSpPr>
        <p:spPr>
          <a:xfrm>
            <a:off x="2351127" y="2232422"/>
            <a:ext cx="3917156" cy="261699"/>
          </a:xfrm>
          <a:prstGeom prst="rect">
            <a:avLst/>
          </a:prstGeom>
          <a:noFill/>
          <a:ln/>
        </p:spPr>
        <p:txBody>
          <a:bodyPr wrap="none" lIns="0" tIns="0" rIns="0" bIns="0" rtlCol="0" anchor="t"/>
          <a:lstStyle/>
          <a:p>
            <a:pPr marL="0" indent="0" algn="l">
              <a:lnSpc>
                <a:spcPts val="2050"/>
              </a:lnSpc>
              <a:buNone/>
            </a:pPr>
            <a:r>
              <a:rPr lang="en-US" sz="1600" dirty="0">
                <a:solidFill>
                  <a:srgbClr val="161613"/>
                </a:solidFill>
                <a:latin typeface="DM Sans Medium" pitchFamily="34" charset="0"/>
                <a:ea typeface="DM Sans Medium" pitchFamily="34" charset="-122"/>
                <a:cs typeface="DM Sans Medium" pitchFamily="34" charset="-120"/>
              </a:rPr>
              <a:t>Authentication &amp; Account Management</a:t>
            </a:r>
            <a:endParaRPr lang="en-US" sz="1600" dirty="0"/>
          </a:p>
        </p:txBody>
      </p:sp>
      <p:sp>
        <p:nvSpPr>
          <p:cNvPr id="8" name="Text 6"/>
          <p:cNvSpPr/>
          <p:nvPr/>
        </p:nvSpPr>
        <p:spPr>
          <a:xfrm>
            <a:off x="2351127" y="2568297"/>
            <a:ext cx="10554533" cy="233005"/>
          </a:xfrm>
          <a:prstGeom prst="rect">
            <a:avLst/>
          </a:prstGeom>
          <a:noFill/>
          <a:ln/>
        </p:spPr>
        <p:txBody>
          <a:bodyPr wrap="none" lIns="0" tIns="0" rIns="0" bIns="0" rtlCol="0" anchor="t"/>
          <a:lstStyle/>
          <a:p>
            <a:pPr marL="0" indent="0" algn="l">
              <a:lnSpc>
                <a:spcPts val="1800"/>
              </a:lnSpc>
              <a:buNone/>
            </a:pPr>
            <a:r>
              <a:rPr lang="en-US" sz="1300" dirty="0">
                <a:solidFill>
                  <a:srgbClr val="161613"/>
                </a:solidFill>
                <a:latin typeface="Inter" pitchFamily="34" charset="0"/>
                <a:ea typeface="Inter" pitchFamily="34" charset="-122"/>
                <a:cs typeface="Inter" pitchFamily="34" charset="-120"/>
              </a:rPr>
              <a:t>Create, login, recover, and update your account settings securely, including 2FA setup.</a:t>
            </a:r>
            <a:endParaRPr lang="en-US" sz="1300" dirty="0"/>
          </a:p>
        </p:txBody>
      </p:sp>
      <p:sp>
        <p:nvSpPr>
          <p:cNvPr id="9" name="Shape 7"/>
          <p:cNvSpPr/>
          <p:nvPr/>
        </p:nvSpPr>
        <p:spPr>
          <a:xfrm>
            <a:off x="1534358" y="3171111"/>
            <a:ext cx="11561683" cy="1005364"/>
          </a:xfrm>
          <a:prstGeom prst="roundRect">
            <a:avLst>
              <a:gd name="adj" fmla="val 2500"/>
            </a:avLst>
          </a:prstGeom>
          <a:solidFill>
            <a:srgbClr val="F9F8F5"/>
          </a:solidFill>
          <a:ln w="22860">
            <a:solidFill>
              <a:srgbClr val="D3D1C9"/>
            </a:solidFill>
            <a:prstDash val="solid"/>
          </a:ln>
        </p:spPr>
      </p:sp>
      <p:sp>
        <p:nvSpPr>
          <p:cNvPr id="10" name="Shape 8"/>
          <p:cNvSpPr/>
          <p:nvPr/>
        </p:nvSpPr>
        <p:spPr>
          <a:xfrm>
            <a:off x="1557218" y="3193971"/>
            <a:ext cx="670203" cy="959644"/>
          </a:xfrm>
          <a:prstGeom prst="rect">
            <a:avLst/>
          </a:prstGeom>
          <a:solidFill>
            <a:srgbClr val="EDEBE3"/>
          </a:solidFill>
          <a:ln/>
        </p:spPr>
      </p:sp>
      <p:sp>
        <p:nvSpPr>
          <p:cNvPr id="11" name="Text 9"/>
          <p:cNvSpPr/>
          <p:nvPr/>
        </p:nvSpPr>
        <p:spPr>
          <a:xfrm>
            <a:off x="1766649" y="3516749"/>
            <a:ext cx="251341" cy="314087"/>
          </a:xfrm>
          <a:prstGeom prst="rect">
            <a:avLst/>
          </a:prstGeom>
          <a:noFill/>
          <a:ln/>
        </p:spPr>
        <p:txBody>
          <a:bodyPr wrap="none" lIns="0" tIns="0" rIns="0" bIns="0" rtlCol="0" anchor="t"/>
          <a:lstStyle/>
          <a:p>
            <a:pPr marL="0" indent="0" algn="l">
              <a:lnSpc>
                <a:spcPts val="1950"/>
              </a:lnSpc>
              <a:buNone/>
            </a:pPr>
            <a:r>
              <a:rPr lang="en-US" sz="1950" dirty="0">
                <a:solidFill>
                  <a:srgbClr val="161613"/>
                </a:solidFill>
                <a:latin typeface="DM Sans Medium" pitchFamily="34" charset="0"/>
                <a:ea typeface="DM Sans Medium" pitchFamily="34" charset="-122"/>
                <a:cs typeface="DM Sans Medium" pitchFamily="34" charset="-120"/>
              </a:rPr>
              <a:t>2</a:t>
            </a:r>
            <a:endParaRPr lang="en-US" sz="1950" dirty="0"/>
          </a:p>
        </p:txBody>
      </p:sp>
      <p:sp>
        <p:nvSpPr>
          <p:cNvPr id="12" name="Text 10"/>
          <p:cNvSpPr/>
          <p:nvPr/>
        </p:nvSpPr>
        <p:spPr>
          <a:xfrm>
            <a:off x="2351127" y="3361492"/>
            <a:ext cx="2840831" cy="261699"/>
          </a:xfrm>
          <a:prstGeom prst="rect">
            <a:avLst/>
          </a:prstGeom>
          <a:noFill/>
          <a:ln/>
        </p:spPr>
        <p:txBody>
          <a:bodyPr wrap="none" lIns="0" tIns="0" rIns="0" bIns="0" rtlCol="0" anchor="t"/>
          <a:lstStyle/>
          <a:p>
            <a:pPr marL="0" indent="0" algn="l">
              <a:lnSpc>
                <a:spcPts val="2050"/>
              </a:lnSpc>
              <a:buNone/>
            </a:pPr>
            <a:r>
              <a:rPr lang="en-US" sz="1600" dirty="0">
                <a:solidFill>
                  <a:srgbClr val="161613"/>
                </a:solidFill>
                <a:latin typeface="DM Sans Medium" pitchFamily="34" charset="0"/>
                <a:ea typeface="DM Sans Medium" pitchFamily="34" charset="-122"/>
                <a:cs typeface="DM Sans Medium" pitchFamily="34" charset="-120"/>
              </a:rPr>
              <a:t>Password Vault Management</a:t>
            </a:r>
            <a:endParaRPr lang="en-US" sz="1600" dirty="0"/>
          </a:p>
        </p:txBody>
      </p:sp>
      <p:sp>
        <p:nvSpPr>
          <p:cNvPr id="13" name="Text 11"/>
          <p:cNvSpPr/>
          <p:nvPr/>
        </p:nvSpPr>
        <p:spPr>
          <a:xfrm>
            <a:off x="2351127" y="3697367"/>
            <a:ext cx="10554533" cy="233005"/>
          </a:xfrm>
          <a:prstGeom prst="rect">
            <a:avLst/>
          </a:prstGeom>
          <a:noFill/>
          <a:ln/>
        </p:spPr>
        <p:txBody>
          <a:bodyPr wrap="none" lIns="0" tIns="0" rIns="0" bIns="0" rtlCol="0" anchor="t"/>
          <a:lstStyle/>
          <a:p>
            <a:pPr marL="0" indent="0" algn="l">
              <a:lnSpc>
                <a:spcPts val="1800"/>
              </a:lnSpc>
              <a:buNone/>
            </a:pPr>
            <a:r>
              <a:rPr lang="en-US" sz="1300" dirty="0">
                <a:solidFill>
                  <a:srgbClr val="161613"/>
                </a:solidFill>
                <a:latin typeface="Inter" pitchFamily="34" charset="0"/>
                <a:ea typeface="Inter" pitchFamily="34" charset="-122"/>
                <a:cs typeface="Inter" pitchFamily="34" charset="-120"/>
              </a:rPr>
              <a:t>Organise, view, search, filter, and manage all your stored password entries with ease.</a:t>
            </a:r>
            <a:endParaRPr lang="en-US" sz="1300" dirty="0"/>
          </a:p>
        </p:txBody>
      </p:sp>
      <p:sp>
        <p:nvSpPr>
          <p:cNvPr id="14" name="Shape 12"/>
          <p:cNvSpPr/>
          <p:nvPr/>
        </p:nvSpPr>
        <p:spPr>
          <a:xfrm>
            <a:off x="1534358" y="4300180"/>
            <a:ext cx="11561683" cy="1005364"/>
          </a:xfrm>
          <a:prstGeom prst="roundRect">
            <a:avLst>
              <a:gd name="adj" fmla="val 2500"/>
            </a:avLst>
          </a:prstGeom>
          <a:solidFill>
            <a:srgbClr val="F9F8F5"/>
          </a:solidFill>
          <a:ln w="22860">
            <a:solidFill>
              <a:srgbClr val="D3D1C9"/>
            </a:solidFill>
            <a:prstDash val="solid"/>
          </a:ln>
        </p:spPr>
      </p:sp>
      <p:sp>
        <p:nvSpPr>
          <p:cNvPr id="15" name="Shape 13"/>
          <p:cNvSpPr/>
          <p:nvPr/>
        </p:nvSpPr>
        <p:spPr>
          <a:xfrm>
            <a:off x="1557218" y="4323040"/>
            <a:ext cx="670203" cy="959644"/>
          </a:xfrm>
          <a:prstGeom prst="rect">
            <a:avLst/>
          </a:prstGeom>
          <a:solidFill>
            <a:srgbClr val="EDEBE3"/>
          </a:solidFill>
          <a:ln/>
        </p:spPr>
      </p:sp>
      <p:sp>
        <p:nvSpPr>
          <p:cNvPr id="16" name="Text 14"/>
          <p:cNvSpPr/>
          <p:nvPr/>
        </p:nvSpPr>
        <p:spPr>
          <a:xfrm>
            <a:off x="1766649" y="4645819"/>
            <a:ext cx="251341" cy="314087"/>
          </a:xfrm>
          <a:prstGeom prst="rect">
            <a:avLst/>
          </a:prstGeom>
          <a:noFill/>
          <a:ln/>
        </p:spPr>
        <p:txBody>
          <a:bodyPr wrap="none" lIns="0" tIns="0" rIns="0" bIns="0" rtlCol="0" anchor="t"/>
          <a:lstStyle/>
          <a:p>
            <a:pPr marL="0" indent="0" algn="l">
              <a:lnSpc>
                <a:spcPts val="1950"/>
              </a:lnSpc>
              <a:buNone/>
            </a:pPr>
            <a:r>
              <a:rPr lang="en-US" sz="1950" dirty="0">
                <a:solidFill>
                  <a:srgbClr val="161613"/>
                </a:solidFill>
                <a:latin typeface="DM Sans Medium" pitchFamily="34" charset="0"/>
                <a:ea typeface="DM Sans Medium" pitchFamily="34" charset="-122"/>
                <a:cs typeface="DM Sans Medium" pitchFamily="34" charset="-120"/>
              </a:rPr>
              <a:t>3</a:t>
            </a:r>
            <a:endParaRPr lang="en-US" sz="1950" dirty="0"/>
          </a:p>
        </p:txBody>
      </p:sp>
      <p:sp>
        <p:nvSpPr>
          <p:cNvPr id="17" name="Text 15"/>
          <p:cNvSpPr/>
          <p:nvPr/>
        </p:nvSpPr>
        <p:spPr>
          <a:xfrm>
            <a:off x="2351127" y="4490561"/>
            <a:ext cx="2094428" cy="261699"/>
          </a:xfrm>
          <a:prstGeom prst="rect">
            <a:avLst/>
          </a:prstGeom>
          <a:noFill/>
          <a:ln/>
        </p:spPr>
        <p:txBody>
          <a:bodyPr wrap="none" lIns="0" tIns="0" rIns="0" bIns="0" rtlCol="0" anchor="t"/>
          <a:lstStyle/>
          <a:p>
            <a:pPr marL="0" indent="0" algn="l">
              <a:lnSpc>
                <a:spcPts val="2050"/>
              </a:lnSpc>
              <a:buNone/>
            </a:pPr>
            <a:r>
              <a:rPr lang="en-US" sz="1600" dirty="0">
                <a:solidFill>
                  <a:srgbClr val="161613"/>
                </a:solidFill>
                <a:latin typeface="DM Sans Medium" pitchFamily="34" charset="0"/>
                <a:ea typeface="DM Sans Medium" pitchFamily="34" charset="-122"/>
                <a:cs typeface="DM Sans Medium" pitchFamily="34" charset="-120"/>
              </a:rPr>
              <a:t>Password Generator</a:t>
            </a:r>
            <a:endParaRPr lang="en-US" sz="1600" dirty="0"/>
          </a:p>
        </p:txBody>
      </p:sp>
      <p:sp>
        <p:nvSpPr>
          <p:cNvPr id="18" name="Text 16"/>
          <p:cNvSpPr/>
          <p:nvPr/>
        </p:nvSpPr>
        <p:spPr>
          <a:xfrm>
            <a:off x="2351127" y="4826437"/>
            <a:ext cx="10554533" cy="233005"/>
          </a:xfrm>
          <a:prstGeom prst="rect">
            <a:avLst/>
          </a:prstGeom>
          <a:noFill/>
          <a:ln/>
        </p:spPr>
        <p:txBody>
          <a:bodyPr wrap="none" lIns="0" tIns="0" rIns="0" bIns="0" rtlCol="0" anchor="t"/>
          <a:lstStyle/>
          <a:p>
            <a:pPr marL="0" indent="0" algn="l">
              <a:lnSpc>
                <a:spcPts val="1800"/>
              </a:lnSpc>
              <a:buNone/>
            </a:pPr>
            <a:r>
              <a:rPr lang="en-US" sz="1300" dirty="0">
                <a:solidFill>
                  <a:srgbClr val="161613"/>
                </a:solidFill>
                <a:latin typeface="Inter" pitchFamily="34" charset="0"/>
                <a:ea typeface="Inter" pitchFamily="34" charset="-122"/>
                <a:cs typeface="Inter" pitchFamily="34" charset="-120"/>
              </a:rPr>
              <a:t>Generate and save strong, customisable passwords directly into your vault.</a:t>
            </a:r>
            <a:endParaRPr lang="en-US" sz="1300" dirty="0"/>
          </a:p>
        </p:txBody>
      </p:sp>
      <p:sp>
        <p:nvSpPr>
          <p:cNvPr id="19" name="Shape 17"/>
          <p:cNvSpPr/>
          <p:nvPr/>
        </p:nvSpPr>
        <p:spPr>
          <a:xfrm>
            <a:off x="1534358" y="5429250"/>
            <a:ext cx="11561683" cy="1005364"/>
          </a:xfrm>
          <a:prstGeom prst="roundRect">
            <a:avLst>
              <a:gd name="adj" fmla="val 2500"/>
            </a:avLst>
          </a:prstGeom>
          <a:solidFill>
            <a:srgbClr val="F9F8F5"/>
          </a:solidFill>
          <a:ln w="22860">
            <a:solidFill>
              <a:srgbClr val="D3D1C9"/>
            </a:solidFill>
            <a:prstDash val="solid"/>
          </a:ln>
        </p:spPr>
      </p:sp>
      <p:sp>
        <p:nvSpPr>
          <p:cNvPr id="20" name="Shape 18"/>
          <p:cNvSpPr/>
          <p:nvPr/>
        </p:nvSpPr>
        <p:spPr>
          <a:xfrm>
            <a:off x="1557218" y="5452110"/>
            <a:ext cx="670203" cy="959644"/>
          </a:xfrm>
          <a:prstGeom prst="rect">
            <a:avLst/>
          </a:prstGeom>
          <a:solidFill>
            <a:srgbClr val="EDEBE3"/>
          </a:solidFill>
          <a:ln/>
        </p:spPr>
      </p:sp>
      <p:sp>
        <p:nvSpPr>
          <p:cNvPr id="21" name="Text 19"/>
          <p:cNvSpPr/>
          <p:nvPr/>
        </p:nvSpPr>
        <p:spPr>
          <a:xfrm>
            <a:off x="1766649" y="5774888"/>
            <a:ext cx="251341" cy="314087"/>
          </a:xfrm>
          <a:prstGeom prst="rect">
            <a:avLst/>
          </a:prstGeom>
          <a:noFill/>
          <a:ln/>
        </p:spPr>
        <p:txBody>
          <a:bodyPr wrap="none" lIns="0" tIns="0" rIns="0" bIns="0" rtlCol="0" anchor="t"/>
          <a:lstStyle/>
          <a:p>
            <a:pPr marL="0" indent="0" algn="l">
              <a:lnSpc>
                <a:spcPts val="1950"/>
              </a:lnSpc>
              <a:buNone/>
            </a:pPr>
            <a:r>
              <a:rPr lang="en-US" sz="1950" dirty="0">
                <a:solidFill>
                  <a:srgbClr val="161613"/>
                </a:solidFill>
                <a:latin typeface="DM Sans Medium" pitchFamily="34" charset="0"/>
                <a:ea typeface="DM Sans Medium" pitchFamily="34" charset="-122"/>
                <a:cs typeface="DM Sans Medium" pitchFamily="34" charset="-120"/>
              </a:rPr>
              <a:t>4</a:t>
            </a:r>
            <a:endParaRPr lang="en-US" sz="1950" dirty="0"/>
          </a:p>
        </p:txBody>
      </p:sp>
      <p:sp>
        <p:nvSpPr>
          <p:cNvPr id="22" name="Text 20"/>
          <p:cNvSpPr/>
          <p:nvPr/>
        </p:nvSpPr>
        <p:spPr>
          <a:xfrm>
            <a:off x="2351127" y="5619631"/>
            <a:ext cx="2094428" cy="261699"/>
          </a:xfrm>
          <a:prstGeom prst="rect">
            <a:avLst/>
          </a:prstGeom>
          <a:noFill/>
          <a:ln/>
        </p:spPr>
        <p:txBody>
          <a:bodyPr wrap="none" lIns="0" tIns="0" rIns="0" bIns="0" rtlCol="0" anchor="t"/>
          <a:lstStyle/>
          <a:p>
            <a:pPr marL="0" indent="0" algn="l">
              <a:lnSpc>
                <a:spcPts val="2050"/>
              </a:lnSpc>
              <a:buNone/>
            </a:pPr>
            <a:r>
              <a:rPr lang="en-US" sz="1600" dirty="0">
                <a:solidFill>
                  <a:srgbClr val="161613"/>
                </a:solidFill>
                <a:latin typeface="DM Sans Medium" pitchFamily="34" charset="0"/>
                <a:ea typeface="DM Sans Medium" pitchFamily="34" charset="-122"/>
                <a:cs typeface="DM Sans Medium" pitchFamily="34" charset="-120"/>
              </a:rPr>
              <a:t>Security Features</a:t>
            </a:r>
            <a:endParaRPr lang="en-US" sz="1600" dirty="0"/>
          </a:p>
        </p:txBody>
      </p:sp>
      <p:sp>
        <p:nvSpPr>
          <p:cNvPr id="23" name="Text 21"/>
          <p:cNvSpPr/>
          <p:nvPr/>
        </p:nvSpPr>
        <p:spPr>
          <a:xfrm>
            <a:off x="2351127" y="5955506"/>
            <a:ext cx="10554533" cy="233005"/>
          </a:xfrm>
          <a:prstGeom prst="rect">
            <a:avLst/>
          </a:prstGeom>
          <a:noFill/>
          <a:ln/>
        </p:spPr>
        <p:txBody>
          <a:bodyPr wrap="none" lIns="0" tIns="0" rIns="0" bIns="0" rtlCol="0" anchor="t"/>
          <a:lstStyle/>
          <a:p>
            <a:pPr marL="0" indent="0" algn="l">
              <a:lnSpc>
                <a:spcPts val="1800"/>
              </a:lnSpc>
              <a:buNone/>
            </a:pPr>
            <a:r>
              <a:rPr lang="en-US" sz="1300" dirty="0">
                <a:solidFill>
                  <a:srgbClr val="161613"/>
                </a:solidFill>
                <a:latin typeface="Inter" pitchFamily="34" charset="0"/>
                <a:ea typeface="Inter" pitchFamily="34" charset="-122"/>
                <a:cs typeface="Inter" pitchFamily="34" charset="-120"/>
              </a:rPr>
              <a:t>Benefit from master password re-entry, security alerts, and comprehensive audit reports.</a:t>
            </a:r>
            <a:endParaRPr lang="en-US" sz="1300" dirty="0"/>
          </a:p>
        </p:txBody>
      </p:sp>
      <p:sp>
        <p:nvSpPr>
          <p:cNvPr id="24" name="Shape 22"/>
          <p:cNvSpPr/>
          <p:nvPr/>
        </p:nvSpPr>
        <p:spPr>
          <a:xfrm>
            <a:off x="1534358" y="6558320"/>
            <a:ext cx="11561683" cy="1005364"/>
          </a:xfrm>
          <a:prstGeom prst="roundRect">
            <a:avLst>
              <a:gd name="adj" fmla="val 2500"/>
            </a:avLst>
          </a:prstGeom>
          <a:solidFill>
            <a:srgbClr val="F9F8F5"/>
          </a:solidFill>
          <a:ln w="22860">
            <a:solidFill>
              <a:srgbClr val="D3D1C9"/>
            </a:solidFill>
            <a:prstDash val="solid"/>
          </a:ln>
        </p:spPr>
      </p:sp>
      <p:sp>
        <p:nvSpPr>
          <p:cNvPr id="25" name="Shape 23"/>
          <p:cNvSpPr/>
          <p:nvPr/>
        </p:nvSpPr>
        <p:spPr>
          <a:xfrm>
            <a:off x="1557218" y="6581180"/>
            <a:ext cx="670203" cy="959644"/>
          </a:xfrm>
          <a:prstGeom prst="rect">
            <a:avLst/>
          </a:prstGeom>
          <a:solidFill>
            <a:srgbClr val="EDEBE3"/>
          </a:solidFill>
          <a:ln/>
        </p:spPr>
      </p:sp>
      <p:sp>
        <p:nvSpPr>
          <p:cNvPr id="26" name="Text 24"/>
          <p:cNvSpPr/>
          <p:nvPr/>
        </p:nvSpPr>
        <p:spPr>
          <a:xfrm>
            <a:off x="1766649" y="6903958"/>
            <a:ext cx="251341" cy="314087"/>
          </a:xfrm>
          <a:prstGeom prst="rect">
            <a:avLst/>
          </a:prstGeom>
          <a:noFill/>
          <a:ln/>
        </p:spPr>
        <p:txBody>
          <a:bodyPr wrap="none" lIns="0" tIns="0" rIns="0" bIns="0" rtlCol="0" anchor="t"/>
          <a:lstStyle/>
          <a:p>
            <a:pPr marL="0" indent="0" algn="l">
              <a:lnSpc>
                <a:spcPts val="1950"/>
              </a:lnSpc>
              <a:buNone/>
            </a:pPr>
            <a:r>
              <a:rPr lang="en-US" sz="1950" dirty="0">
                <a:solidFill>
                  <a:srgbClr val="161613"/>
                </a:solidFill>
                <a:latin typeface="DM Sans Medium" pitchFamily="34" charset="0"/>
                <a:ea typeface="DM Sans Medium" pitchFamily="34" charset="-122"/>
                <a:cs typeface="DM Sans Medium" pitchFamily="34" charset="-120"/>
              </a:rPr>
              <a:t>5</a:t>
            </a:r>
            <a:endParaRPr lang="en-US" sz="1950" dirty="0"/>
          </a:p>
        </p:txBody>
      </p:sp>
      <p:sp>
        <p:nvSpPr>
          <p:cNvPr id="27" name="Text 25"/>
          <p:cNvSpPr/>
          <p:nvPr/>
        </p:nvSpPr>
        <p:spPr>
          <a:xfrm>
            <a:off x="2351127" y="6748701"/>
            <a:ext cx="3224451" cy="261699"/>
          </a:xfrm>
          <a:prstGeom prst="rect">
            <a:avLst/>
          </a:prstGeom>
          <a:noFill/>
          <a:ln/>
        </p:spPr>
        <p:txBody>
          <a:bodyPr wrap="none" lIns="0" tIns="0" rIns="0" bIns="0" rtlCol="0" anchor="t"/>
          <a:lstStyle/>
          <a:p>
            <a:pPr marL="0" indent="0" algn="l">
              <a:lnSpc>
                <a:spcPts val="2050"/>
              </a:lnSpc>
              <a:buNone/>
            </a:pPr>
            <a:r>
              <a:rPr lang="en-US" sz="1600" dirty="0">
                <a:solidFill>
                  <a:srgbClr val="161613"/>
                </a:solidFill>
                <a:latin typeface="DM Sans Medium" pitchFamily="34" charset="0"/>
                <a:ea typeface="DM Sans Medium" pitchFamily="34" charset="-122"/>
                <a:cs typeface="DM Sans Medium" pitchFamily="34" charset="-120"/>
              </a:rPr>
              <a:t>Security Questions Management</a:t>
            </a:r>
            <a:endParaRPr lang="en-US" sz="1600" dirty="0"/>
          </a:p>
        </p:txBody>
      </p:sp>
      <p:sp>
        <p:nvSpPr>
          <p:cNvPr id="28" name="Text 26"/>
          <p:cNvSpPr/>
          <p:nvPr/>
        </p:nvSpPr>
        <p:spPr>
          <a:xfrm>
            <a:off x="2351127" y="7084576"/>
            <a:ext cx="10554533" cy="233005"/>
          </a:xfrm>
          <a:prstGeom prst="rect">
            <a:avLst/>
          </a:prstGeom>
          <a:noFill/>
          <a:ln/>
        </p:spPr>
        <p:txBody>
          <a:bodyPr wrap="none" lIns="0" tIns="0" rIns="0" bIns="0" rtlCol="0" anchor="t"/>
          <a:lstStyle/>
          <a:p>
            <a:pPr marL="0" indent="0" algn="l">
              <a:lnSpc>
                <a:spcPts val="1800"/>
              </a:lnSpc>
              <a:buNone/>
            </a:pPr>
            <a:r>
              <a:rPr lang="en-US" sz="1300" dirty="0">
                <a:solidFill>
                  <a:srgbClr val="161613"/>
                </a:solidFill>
                <a:latin typeface="Inter" pitchFamily="34" charset="0"/>
                <a:ea typeface="Inter" pitchFamily="34" charset="-122"/>
                <a:cs typeface="Inter" pitchFamily="34" charset="-120"/>
              </a:rPr>
              <a:t>Manage security questions for account recovery and enhanced security.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24733" y="604361"/>
            <a:ext cx="5176957" cy="647105"/>
          </a:xfrm>
          <a:prstGeom prst="rect">
            <a:avLst/>
          </a:prstGeom>
          <a:noFill/>
          <a:ln/>
        </p:spPr>
        <p:txBody>
          <a:bodyPr wrap="none" lIns="0" tIns="0" rIns="0" bIns="0" rtlCol="0" anchor="t"/>
          <a:lstStyle/>
          <a:p>
            <a:pPr marL="0" indent="0" algn="l">
              <a:lnSpc>
                <a:spcPts val="5050"/>
              </a:lnSpc>
              <a:buNone/>
            </a:pPr>
            <a:r>
              <a:rPr lang="en-US" sz="4050" dirty="0">
                <a:solidFill>
                  <a:srgbClr val="161613"/>
                </a:solidFill>
                <a:latin typeface="DM Sans Medium" pitchFamily="34" charset="0"/>
                <a:ea typeface="DM Sans Medium" pitchFamily="34" charset="-122"/>
                <a:cs typeface="DM Sans Medium" pitchFamily="34" charset="-120"/>
              </a:rPr>
              <a:t>ER Diagram</a:t>
            </a:r>
            <a:endParaRPr lang="en-US" sz="4050" dirty="0"/>
          </a:p>
        </p:txBody>
      </p:sp>
      <p:pic>
        <p:nvPicPr>
          <p:cNvPr id="3" name="Image 0" descr="preencoded.png"/>
          <p:cNvPicPr>
            <a:picLocks noChangeAspect="1"/>
          </p:cNvPicPr>
          <p:nvPr/>
        </p:nvPicPr>
        <p:blipFill>
          <a:blip r:embed="rId3"/>
          <a:stretch>
            <a:fillRect/>
          </a:stretch>
        </p:blipFill>
        <p:spPr>
          <a:xfrm>
            <a:off x="2627114" y="1629489"/>
            <a:ext cx="9376053" cy="5466159"/>
          </a:xfrm>
          <a:prstGeom prst="rect">
            <a:avLst/>
          </a:prstGeom>
        </p:spPr>
      </p:pic>
      <p:sp>
        <p:nvSpPr>
          <p:cNvPr id="4" name="Text 1"/>
          <p:cNvSpPr/>
          <p:nvPr/>
        </p:nvSpPr>
        <p:spPr>
          <a:xfrm>
            <a:off x="724733" y="7308294"/>
            <a:ext cx="13180933" cy="316825"/>
          </a:xfrm>
          <a:prstGeom prst="rect">
            <a:avLst/>
          </a:prstGeom>
          <a:noFill/>
          <a:ln/>
        </p:spPr>
        <p:txBody>
          <a:bodyPr wrap="none" lIns="0" tIns="0" rIns="0" bIns="0" rtlCol="0" anchor="t"/>
          <a:lstStyle/>
          <a:p>
            <a:pPr marL="0" indent="0" algn="l">
              <a:lnSpc>
                <a:spcPts val="2450"/>
              </a:lnSpc>
              <a:buNone/>
            </a:pP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758797" y="391716"/>
            <a:ext cx="6178629" cy="412671"/>
          </a:xfrm>
          <a:prstGeom prst="rect">
            <a:avLst/>
          </a:prstGeom>
          <a:noFill/>
          <a:ln/>
        </p:spPr>
        <p:txBody>
          <a:bodyPr wrap="none" lIns="0" tIns="0" rIns="0" bIns="0" rtlCol="0" anchor="t"/>
          <a:lstStyle/>
          <a:p>
            <a:pPr marL="0" indent="0" algn="l">
              <a:lnSpc>
                <a:spcPts val="3200"/>
              </a:lnSpc>
              <a:buNone/>
            </a:pPr>
            <a:r>
              <a:rPr lang="en-US" sz="2550" dirty="0">
                <a:solidFill>
                  <a:srgbClr val="161613"/>
                </a:solidFill>
                <a:latin typeface="DM Sans Medium" pitchFamily="34" charset="0"/>
                <a:ea typeface="DM Sans Medium" pitchFamily="34" charset="-122"/>
                <a:cs typeface="DM Sans Medium" pitchFamily="34" charset="-120"/>
              </a:rPr>
              <a:t>Authentication &amp; Account Management</a:t>
            </a:r>
            <a:endParaRPr lang="en-US" sz="2550" dirty="0"/>
          </a:p>
        </p:txBody>
      </p:sp>
      <p:sp>
        <p:nvSpPr>
          <p:cNvPr id="3" name="Text 1"/>
          <p:cNvSpPr/>
          <p:nvPr/>
        </p:nvSpPr>
        <p:spPr>
          <a:xfrm>
            <a:off x="2758797" y="1006079"/>
            <a:ext cx="2980015" cy="3108722"/>
          </a:xfrm>
          <a:prstGeom prst="rect">
            <a:avLst/>
          </a:prstGeom>
          <a:noFill/>
          <a:ln/>
        </p:spPr>
        <p:txBody>
          <a:bodyPr wrap="square" lIns="0" tIns="0" rIns="0" bIns="0" rtlCol="0" anchor="t"/>
          <a:lstStyle/>
          <a:p>
            <a:pPr marL="342900" indent="-342900" algn="l">
              <a:lnSpc>
                <a:spcPct val="150000"/>
              </a:lnSpc>
              <a:buSzPct val="100000"/>
              <a:buChar char="•"/>
            </a:pPr>
            <a:r>
              <a:rPr lang="en-US" sz="1400" dirty="0">
                <a:solidFill>
                  <a:srgbClr val="161613"/>
                </a:solidFill>
                <a:latin typeface="Inter" pitchFamily="34" charset="0"/>
                <a:ea typeface="Inter" pitchFamily="34" charset="-122"/>
                <a:cs typeface="Inter" pitchFamily="34" charset="-120"/>
              </a:rPr>
              <a:t>Create an account with email, username, and master password.</a:t>
            </a:r>
            <a:endParaRPr lang="en-US" sz="1400" dirty="0"/>
          </a:p>
          <a:p>
            <a:pPr marL="342900" indent="-342900" algn="l">
              <a:lnSpc>
                <a:spcPct val="150000"/>
              </a:lnSpc>
              <a:buSzPct val="100000"/>
              <a:buChar char="•"/>
            </a:pPr>
            <a:r>
              <a:rPr lang="en-US" sz="1400" dirty="0">
                <a:solidFill>
                  <a:srgbClr val="161613"/>
                </a:solidFill>
                <a:latin typeface="Inter" pitchFamily="34" charset="0"/>
                <a:ea typeface="Inter" pitchFamily="34" charset="-122"/>
                <a:cs typeface="Inter" pitchFamily="34" charset="-120"/>
              </a:rPr>
              <a:t>Set up a minimum of 3 security questions during registration.</a:t>
            </a:r>
            <a:endParaRPr lang="en-US" sz="1400" dirty="0"/>
          </a:p>
          <a:p>
            <a:pPr marL="342900" indent="-342900" algn="l">
              <a:lnSpc>
                <a:spcPct val="150000"/>
              </a:lnSpc>
              <a:buSzPct val="100000"/>
              <a:buChar char="•"/>
            </a:pPr>
            <a:r>
              <a:rPr lang="en-US" sz="1400" dirty="0">
                <a:solidFill>
                  <a:srgbClr val="161613"/>
                </a:solidFill>
                <a:latin typeface="Inter" pitchFamily="34" charset="0"/>
                <a:ea typeface="Inter" pitchFamily="34" charset="-122"/>
                <a:cs typeface="Inter" pitchFamily="34" charset="-120"/>
              </a:rPr>
              <a:t>Login using username/email and master password.</a:t>
            </a:r>
            <a:endParaRPr lang="en-US" sz="1400" dirty="0"/>
          </a:p>
          <a:p>
            <a:pPr marL="342900" indent="-342900" algn="l">
              <a:lnSpc>
                <a:spcPct val="150000"/>
              </a:lnSpc>
              <a:buSzPct val="100000"/>
              <a:buChar char="•"/>
            </a:pPr>
            <a:r>
              <a:rPr lang="en-US" sz="1400" dirty="0">
                <a:solidFill>
                  <a:srgbClr val="161613"/>
                </a:solidFill>
                <a:latin typeface="Inter" pitchFamily="34" charset="0"/>
                <a:ea typeface="Inter" pitchFamily="34" charset="-122"/>
                <a:cs typeface="Inter" pitchFamily="34" charset="-120"/>
              </a:rPr>
              <a:t>View dashboard with password vault summary.</a:t>
            </a:r>
            <a:endParaRPr lang="en-US" sz="1400" dirty="0"/>
          </a:p>
          <a:p>
            <a:pPr marL="342900" indent="-342900" algn="l">
              <a:lnSpc>
                <a:spcPct val="150000"/>
              </a:lnSpc>
              <a:buSzPct val="100000"/>
              <a:buChar char="•"/>
            </a:pPr>
            <a:r>
              <a:rPr lang="en-US" sz="1400" dirty="0">
                <a:solidFill>
                  <a:srgbClr val="161613"/>
                </a:solidFill>
                <a:latin typeface="Inter" pitchFamily="34" charset="0"/>
                <a:ea typeface="Inter" pitchFamily="34" charset="-122"/>
                <a:cs typeface="Inter" pitchFamily="34" charset="-120"/>
              </a:rPr>
              <a:t>Update profile information (name, email, phone number).</a:t>
            </a:r>
            <a:endParaRPr lang="en-US" sz="1400" dirty="0"/>
          </a:p>
        </p:txBody>
      </p:sp>
      <p:pic>
        <p:nvPicPr>
          <p:cNvPr id="4" name="Image 0" descr="preencoded.png"/>
          <p:cNvPicPr>
            <a:picLocks noChangeAspect="1"/>
          </p:cNvPicPr>
          <p:nvPr/>
        </p:nvPicPr>
        <p:blipFill>
          <a:blip r:embed="rId3"/>
          <a:stretch>
            <a:fillRect/>
          </a:stretch>
        </p:blipFill>
        <p:spPr>
          <a:xfrm>
            <a:off x="6068616" y="1006078"/>
            <a:ext cx="5810488" cy="3243024"/>
          </a:xfrm>
          <a:prstGeom prst="rect">
            <a:avLst/>
          </a:prstGeom>
        </p:spPr>
      </p:pic>
      <p:pic>
        <p:nvPicPr>
          <p:cNvPr id="5" name="Image 1" descr="preencoded.png"/>
          <p:cNvPicPr>
            <a:picLocks noChangeAspect="1"/>
          </p:cNvPicPr>
          <p:nvPr/>
        </p:nvPicPr>
        <p:blipFill>
          <a:blip r:embed="rId4"/>
          <a:stretch>
            <a:fillRect/>
          </a:stretch>
        </p:blipFill>
        <p:spPr>
          <a:xfrm>
            <a:off x="2758797" y="4508421"/>
            <a:ext cx="5810488" cy="3243024"/>
          </a:xfrm>
          <a:prstGeom prst="rect">
            <a:avLst/>
          </a:prstGeom>
        </p:spPr>
      </p:pic>
      <p:sp>
        <p:nvSpPr>
          <p:cNvPr id="6" name="Text 2"/>
          <p:cNvSpPr/>
          <p:nvPr/>
        </p:nvSpPr>
        <p:spPr>
          <a:xfrm>
            <a:off x="8899088" y="4508421"/>
            <a:ext cx="2980015" cy="3243023"/>
          </a:xfrm>
          <a:prstGeom prst="rect">
            <a:avLst/>
          </a:prstGeom>
          <a:noFill/>
          <a:ln/>
        </p:spPr>
        <p:txBody>
          <a:bodyPr wrap="square" lIns="0" tIns="0" rIns="0" bIns="0" rtlCol="0" anchor="t"/>
          <a:lstStyle/>
          <a:p>
            <a:pPr marL="342900" indent="-342900" algn="l">
              <a:lnSpc>
                <a:spcPct val="150000"/>
              </a:lnSpc>
              <a:buSzPct val="100000"/>
              <a:buChar char="•"/>
            </a:pPr>
            <a:r>
              <a:rPr lang="en-US" sz="1400" dirty="0">
                <a:solidFill>
                  <a:srgbClr val="161613"/>
                </a:solidFill>
                <a:latin typeface="Inter" pitchFamily="34" charset="0"/>
                <a:ea typeface="Inter" pitchFamily="34" charset="-122"/>
                <a:cs typeface="Inter" pitchFamily="34" charset="-120"/>
              </a:rPr>
              <a:t>Change master password (requires current master password verification).</a:t>
            </a:r>
            <a:endParaRPr lang="en-US" sz="1400" dirty="0"/>
          </a:p>
          <a:p>
            <a:pPr marL="342900" indent="-342900" algn="l">
              <a:lnSpc>
                <a:spcPct val="150000"/>
              </a:lnSpc>
              <a:buSzPct val="100000"/>
              <a:buChar char="•"/>
            </a:pPr>
            <a:r>
              <a:rPr lang="en-US" sz="1400" dirty="0">
                <a:solidFill>
                  <a:srgbClr val="161613"/>
                </a:solidFill>
                <a:latin typeface="Inter" pitchFamily="34" charset="0"/>
                <a:ea typeface="Inter" pitchFamily="34" charset="-122"/>
                <a:cs typeface="Inter" pitchFamily="34" charset="-120"/>
              </a:rPr>
              <a:t>Recover forgotten master password through security questions.</a:t>
            </a:r>
            <a:endParaRPr lang="en-US" sz="1400" dirty="0"/>
          </a:p>
          <a:p>
            <a:pPr marL="342900" indent="-342900" algn="l">
              <a:lnSpc>
                <a:spcPct val="150000"/>
              </a:lnSpc>
              <a:buSzPct val="100000"/>
              <a:buChar char="•"/>
            </a:pPr>
            <a:r>
              <a:rPr lang="en-US" sz="1400" dirty="0">
                <a:solidFill>
                  <a:srgbClr val="161613"/>
                </a:solidFill>
                <a:latin typeface="Inter" pitchFamily="34" charset="0"/>
                <a:ea typeface="Inter" pitchFamily="34" charset="-122"/>
                <a:cs typeface="Inter" pitchFamily="34" charset="-120"/>
              </a:rPr>
              <a:t>Enable/disable two-factor authentication (2FA) via authenticator app simulation.</a:t>
            </a:r>
            <a:endParaRPr lang="en-US" sz="1400" dirty="0"/>
          </a:p>
          <a:p>
            <a:pPr marL="342900" indent="-342900" algn="l">
              <a:lnSpc>
                <a:spcPct val="150000"/>
              </a:lnSpc>
              <a:buSzPct val="100000"/>
              <a:buChar char="•"/>
            </a:pPr>
            <a:r>
              <a:rPr lang="en-US" sz="1400" dirty="0">
                <a:solidFill>
                  <a:srgbClr val="161613"/>
                </a:solidFill>
                <a:latin typeface="Inter" pitchFamily="34" charset="0"/>
                <a:ea typeface="Inter" pitchFamily="34" charset="-122"/>
                <a:cs typeface="Inter" pitchFamily="34" charset="-120"/>
              </a:rPr>
              <a:t>Logout securely from your account.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354812"/>
            <a:ext cx="7695009"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Password Vault Management</a:t>
            </a:r>
            <a:endParaRPr lang="en-US" sz="4450" dirty="0"/>
          </a:p>
        </p:txBody>
      </p:sp>
      <p:sp>
        <p:nvSpPr>
          <p:cNvPr id="3" name="Text 1"/>
          <p:cNvSpPr/>
          <p:nvPr/>
        </p:nvSpPr>
        <p:spPr>
          <a:xfrm>
            <a:off x="793790" y="251721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Your personal vault provides complete control over your credentials, from detailed views to efficient organisation.</a:t>
            </a:r>
            <a:endParaRPr lang="en-US" sz="1750" dirty="0"/>
          </a:p>
        </p:txBody>
      </p:sp>
      <p:pic>
        <p:nvPicPr>
          <p:cNvPr id="4" name="Image 0" descr="preencoded.png"/>
          <p:cNvPicPr>
            <a:picLocks noChangeAspect="1"/>
          </p:cNvPicPr>
          <p:nvPr/>
        </p:nvPicPr>
        <p:blipFill>
          <a:blip r:embed="rId3"/>
          <a:stretch>
            <a:fillRect/>
          </a:stretch>
        </p:blipFill>
        <p:spPr>
          <a:xfrm>
            <a:off x="793790" y="3135273"/>
            <a:ext cx="2079308" cy="2079308"/>
          </a:xfrm>
          <a:prstGeom prst="rect">
            <a:avLst/>
          </a:prstGeom>
        </p:spPr>
      </p:pic>
      <p:sp>
        <p:nvSpPr>
          <p:cNvPr id="5" name="Text 2"/>
          <p:cNvSpPr/>
          <p:nvPr/>
        </p:nvSpPr>
        <p:spPr>
          <a:xfrm>
            <a:off x="3099911" y="3135273"/>
            <a:ext cx="1852493" cy="708660"/>
          </a:xfrm>
          <a:prstGeom prst="rect">
            <a:avLst/>
          </a:prstGeom>
          <a:noFill/>
          <a:ln/>
        </p:spPr>
        <p:txBody>
          <a:bodyPr wrap="squar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Organise and Search</a:t>
            </a:r>
            <a:endParaRPr lang="en-US" sz="2200" dirty="0"/>
          </a:p>
        </p:txBody>
      </p:sp>
      <p:sp>
        <p:nvSpPr>
          <p:cNvPr id="6" name="Text 3"/>
          <p:cNvSpPr/>
          <p:nvPr/>
        </p:nvSpPr>
        <p:spPr>
          <a:xfrm>
            <a:off x="3099911" y="3980021"/>
            <a:ext cx="1852493" cy="217741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View, search, filter by category, and sort password entries for quick access.</a:t>
            </a:r>
            <a:endParaRPr lang="en-US" sz="1750" dirty="0"/>
          </a:p>
        </p:txBody>
      </p:sp>
      <p:pic>
        <p:nvPicPr>
          <p:cNvPr id="7" name="Image 1" descr="preencoded.png"/>
          <p:cNvPicPr>
            <a:picLocks noChangeAspect="1"/>
          </p:cNvPicPr>
          <p:nvPr/>
        </p:nvPicPr>
        <p:blipFill>
          <a:blip r:embed="rId4"/>
          <a:stretch>
            <a:fillRect/>
          </a:stretch>
        </p:blipFill>
        <p:spPr>
          <a:xfrm>
            <a:off x="5235893" y="3135273"/>
            <a:ext cx="2079308" cy="2079308"/>
          </a:xfrm>
          <a:prstGeom prst="rect">
            <a:avLst/>
          </a:prstGeom>
        </p:spPr>
      </p:pic>
      <p:sp>
        <p:nvSpPr>
          <p:cNvPr id="8" name="Text 4"/>
          <p:cNvSpPr/>
          <p:nvPr/>
        </p:nvSpPr>
        <p:spPr>
          <a:xfrm>
            <a:off x="7542014" y="3135273"/>
            <a:ext cx="1852493" cy="1062990"/>
          </a:xfrm>
          <a:prstGeom prst="rect">
            <a:avLst/>
          </a:prstGeom>
          <a:noFill/>
          <a:ln/>
        </p:spPr>
        <p:txBody>
          <a:bodyPr wrap="squar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Detailed Entry Management</a:t>
            </a:r>
            <a:endParaRPr lang="en-US" sz="2200" dirty="0"/>
          </a:p>
        </p:txBody>
      </p:sp>
      <p:sp>
        <p:nvSpPr>
          <p:cNvPr id="9" name="Text 5"/>
          <p:cNvSpPr/>
          <p:nvPr/>
        </p:nvSpPr>
        <p:spPr>
          <a:xfrm>
            <a:off x="7542014" y="4334351"/>
            <a:ext cx="1852493" cy="2540318"/>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Add, update, or delete entries with comprehensive details including notes and categories.</a:t>
            </a:r>
            <a:endParaRPr lang="en-US" sz="1750" dirty="0"/>
          </a:p>
        </p:txBody>
      </p:sp>
      <p:pic>
        <p:nvPicPr>
          <p:cNvPr id="10" name="Image 2" descr="preencoded.png"/>
          <p:cNvPicPr>
            <a:picLocks noChangeAspect="1"/>
          </p:cNvPicPr>
          <p:nvPr/>
        </p:nvPicPr>
        <p:blipFill>
          <a:blip r:embed="rId5"/>
          <a:stretch>
            <a:fillRect/>
          </a:stretch>
        </p:blipFill>
        <p:spPr>
          <a:xfrm>
            <a:off x="9677995" y="3135273"/>
            <a:ext cx="2079308" cy="2079308"/>
          </a:xfrm>
          <a:prstGeom prst="rect">
            <a:avLst/>
          </a:prstGeom>
        </p:spPr>
      </p:pic>
      <p:sp>
        <p:nvSpPr>
          <p:cNvPr id="11" name="Text 6"/>
          <p:cNvSpPr/>
          <p:nvPr/>
        </p:nvSpPr>
        <p:spPr>
          <a:xfrm>
            <a:off x="11984117" y="3135273"/>
            <a:ext cx="1852493" cy="708660"/>
          </a:xfrm>
          <a:prstGeom prst="rect">
            <a:avLst/>
          </a:prstGeom>
          <a:noFill/>
          <a:ln/>
        </p:spPr>
        <p:txBody>
          <a:bodyPr wrap="squar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Favourite Passwords</a:t>
            </a:r>
            <a:endParaRPr lang="en-US" sz="2200" dirty="0"/>
          </a:p>
        </p:txBody>
      </p:sp>
      <p:sp>
        <p:nvSpPr>
          <p:cNvPr id="12" name="Text 7"/>
          <p:cNvSpPr/>
          <p:nvPr/>
        </p:nvSpPr>
        <p:spPr>
          <a:xfrm>
            <a:off x="11984117" y="3980021"/>
            <a:ext cx="1852493" cy="1814513"/>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Mark passwords as favourites for instant retrieval and view your curated list.</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74884" y="1292304"/>
            <a:ext cx="6363295" cy="574238"/>
          </a:xfrm>
          <a:prstGeom prst="rect">
            <a:avLst/>
          </a:prstGeom>
          <a:noFill/>
          <a:ln/>
        </p:spPr>
        <p:txBody>
          <a:bodyPr wrap="none" lIns="0" tIns="0" rIns="0" bIns="0" rtlCol="0" anchor="t"/>
          <a:lstStyle/>
          <a:p>
            <a:pPr marL="0" indent="0" algn="l">
              <a:lnSpc>
                <a:spcPts val="4500"/>
              </a:lnSpc>
              <a:buNone/>
            </a:pPr>
            <a:r>
              <a:rPr lang="en-US" sz="3600" dirty="0">
                <a:solidFill>
                  <a:srgbClr val="161613"/>
                </a:solidFill>
                <a:latin typeface="DM Sans Medium" pitchFamily="34" charset="0"/>
                <a:ea typeface="DM Sans Medium" pitchFamily="34" charset="-122"/>
                <a:cs typeface="DM Sans Medium" pitchFamily="34" charset="-120"/>
              </a:rPr>
              <a:t>Powerful Password Generator</a:t>
            </a:r>
            <a:endParaRPr lang="en-US" sz="3600" dirty="0"/>
          </a:p>
        </p:txBody>
      </p:sp>
      <p:pic>
        <p:nvPicPr>
          <p:cNvPr id="3" name="Image 0" descr="preencoded.png"/>
          <p:cNvPicPr>
            <a:picLocks noChangeAspect="1"/>
          </p:cNvPicPr>
          <p:nvPr/>
        </p:nvPicPr>
        <p:blipFill>
          <a:blip r:embed="rId3"/>
          <a:stretch>
            <a:fillRect/>
          </a:stretch>
        </p:blipFill>
        <p:spPr>
          <a:xfrm>
            <a:off x="974884" y="2257187"/>
            <a:ext cx="8085296" cy="4512707"/>
          </a:xfrm>
          <a:prstGeom prst="rect">
            <a:avLst/>
          </a:prstGeom>
        </p:spPr>
      </p:pic>
      <p:sp>
        <p:nvSpPr>
          <p:cNvPr id="4" name="Text 1"/>
          <p:cNvSpPr/>
          <p:nvPr/>
        </p:nvSpPr>
        <p:spPr>
          <a:xfrm>
            <a:off x="9516189" y="2335649"/>
            <a:ext cx="4146709" cy="1064419"/>
          </a:xfrm>
          <a:prstGeom prst="rect">
            <a:avLst/>
          </a:prstGeom>
          <a:noFill/>
          <a:ln/>
        </p:spPr>
        <p:txBody>
          <a:bodyPr wrap="square" lIns="0" tIns="0" rIns="0" bIns="0" rtlCol="0" anchor="t"/>
          <a:lstStyle/>
          <a:p>
            <a:pPr marL="0" indent="0" algn="l">
              <a:lnSpc>
                <a:spcPts val="2050"/>
              </a:lnSpc>
              <a:buNone/>
            </a:pPr>
            <a:r>
              <a:rPr lang="en-US" sz="1400" dirty="0">
                <a:solidFill>
                  <a:srgbClr val="161613"/>
                </a:solidFill>
                <a:latin typeface="Inter" pitchFamily="34" charset="0"/>
                <a:ea typeface="Inter" pitchFamily="34" charset="-122"/>
                <a:cs typeface="Inter" pitchFamily="34" charset="-120"/>
              </a:rPr>
              <a:t>Generate strong, random passwords tailored to your needs. The generator offers full customisation to meet various security requirements.</a:t>
            </a:r>
            <a:endParaRPr lang="en-US" sz="1400" dirty="0"/>
          </a:p>
        </p:txBody>
      </p:sp>
      <p:sp>
        <p:nvSpPr>
          <p:cNvPr id="5" name="Text 2"/>
          <p:cNvSpPr/>
          <p:nvPr/>
        </p:nvSpPr>
        <p:spPr>
          <a:xfrm>
            <a:off x="9516189" y="3534013"/>
            <a:ext cx="4146709" cy="3239333"/>
          </a:xfrm>
          <a:prstGeom prst="rect">
            <a:avLst/>
          </a:prstGeom>
          <a:noFill/>
          <a:ln/>
        </p:spPr>
        <p:txBody>
          <a:bodyPr wrap="square" lIns="0" tIns="0" rIns="0" bIns="0" rtlCol="0" anchor="t"/>
          <a:lstStyle/>
          <a:p>
            <a:pPr marL="342900" indent="-342900" algn="l">
              <a:lnSpc>
                <a:spcPts val="2050"/>
              </a:lnSpc>
              <a:buSzPct val="100000"/>
              <a:buChar char="•"/>
            </a:pPr>
            <a:r>
              <a:rPr lang="en-US" sz="1400" dirty="0">
                <a:solidFill>
                  <a:srgbClr val="161613"/>
                </a:solidFill>
                <a:latin typeface="Inter" pitchFamily="34" charset="0"/>
                <a:ea typeface="Inter" pitchFamily="34" charset="-122"/>
                <a:cs typeface="Inter" pitchFamily="34" charset="-120"/>
              </a:rPr>
              <a:t>Password length: 8-64 characters.</a:t>
            </a:r>
            <a:endParaRPr lang="en-US" sz="1400" dirty="0"/>
          </a:p>
          <a:p>
            <a:pPr marL="342900" indent="-342900" algn="l">
              <a:lnSpc>
                <a:spcPts val="2050"/>
              </a:lnSpc>
              <a:buSzPct val="100000"/>
              <a:buChar char="•"/>
            </a:pPr>
            <a:r>
              <a:rPr lang="en-US" sz="1400" dirty="0">
                <a:solidFill>
                  <a:srgbClr val="161613"/>
                </a:solidFill>
                <a:latin typeface="Inter" pitchFamily="34" charset="0"/>
                <a:ea typeface="Inter" pitchFamily="34" charset="-122"/>
                <a:cs typeface="Inter" pitchFamily="34" charset="-120"/>
              </a:rPr>
              <a:t>Include/exclude uppercase, lowercase, numbers, and special characters.</a:t>
            </a:r>
            <a:endParaRPr lang="en-US" sz="1400" dirty="0"/>
          </a:p>
          <a:p>
            <a:pPr marL="342900" indent="-342900" algn="l">
              <a:lnSpc>
                <a:spcPts val="2050"/>
              </a:lnSpc>
              <a:buSzPct val="100000"/>
              <a:buChar char="•"/>
            </a:pPr>
            <a:r>
              <a:rPr lang="en-US" sz="1400" dirty="0">
                <a:solidFill>
                  <a:srgbClr val="161613"/>
                </a:solidFill>
                <a:latin typeface="Inter" pitchFamily="34" charset="0"/>
                <a:ea typeface="Inter" pitchFamily="34" charset="-122"/>
                <a:cs typeface="Inter" pitchFamily="34" charset="-120"/>
              </a:rPr>
              <a:t>Exclude similar characters (0, O, l, 1, etc.) to avoid confusion.</a:t>
            </a:r>
            <a:endParaRPr lang="en-US" sz="1400" dirty="0"/>
          </a:p>
          <a:p>
            <a:pPr marL="342900" indent="-342900" algn="l">
              <a:lnSpc>
                <a:spcPts val="2050"/>
              </a:lnSpc>
              <a:buSzPct val="100000"/>
              <a:buChar char="•"/>
            </a:pPr>
            <a:r>
              <a:rPr lang="en-US" sz="1400" dirty="0">
                <a:solidFill>
                  <a:srgbClr val="161613"/>
                </a:solidFill>
                <a:latin typeface="Inter" pitchFamily="34" charset="0"/>
                <a:ea typeface="Inter" pitchFamily="34" charset="-122"/>
                <a:cs typeface="Inter" pitchFamily="34" charset="-120"/>
              </a:rPr>
              <a:t>Copy generated password to clipboard.</a:t>
            </a:r>
            <a:endParaRPr lang="en-US" sz="1400" dirty="0"/>
          </a:p>
          <a:p>
            <a:pPr marL="342900" indent="-342900" algn="l">
              <a:lnSpc>
                <a:spcPts val="2050"/>
              </a:lnSpc>
              <a:buSzPct val="100000"/>
              <a:buChar char="•"/>
            </a:pPr>
            <a:r>
              <a:rPr lang="en-US" sz="1400" dirty="0">
                <a:solidFill>
                  <a:srgbClr val="161613"/>
                </a:solidFill>
                <a:latin typeface="Inter" pitchFamily="34" charset="0"/>
                <a:ea typeface="Inter" pitchFamily="34" charset="-122"/>
                <a:cs typeface="Inter" pitchFamily="34" charset="-120"/>
              </a:rPr>
              <a:t>View password strength indicator (Weak, Medium, Strong, Very Strong).</a:t>
            </a:r>
            <a:endParaRPr lang="en-US" sz="1400" dirty="0"/>
          </a:p>
          <a:p>
            <a:pPr marL="342900" indent="-342900" algn="l">
              <a:lnSpc>
                <a:spcPts val="2050"/>
              </a:lnSpc>
              <a:buSzPct val="100000"/>
              <a:buChar char="•"/>
            </a:pPr>
            <a:r>
              <a:rPr lang="en-US" sz="1400" dirty="0">
                <a:solidFill>
                  <a:srgbClr val="161613"/>
                </a:solidFill>
                <a:latin typeface="Inter" pitchFamily="34" charset="0"/>
                <a:ea typeface="Inter" pitchFamily="34" charset="-122"/>
                <a:cs typeface="Inter" pitchFamily="34" charset="-120"/>
              </a:rPr>
              <a:t>Save generated password directly to vault.</a:t>
            </a:r>
            <a:endParaRPr lang="en-US" sz="1400" dirty="0"/>
          </a:p>
          <a:p>
            <a:pPr marL="342900" indent="-342900" algn="l">
              <a:lnSpc>
                <a:spcPts val="2050"/>
              </a:lnSpc>
              <a:buSzPct val="100000"/>
              <a:buChar char="•"/>
            </a:pPr>
            <a:r>
              <a:rPr lang="en-US" sz="1400" dirty="0">
                <a:solidFill>
                  <a:srgbClr val="161613"/>
                </a:solidFill>
                <a:latin typeface="Inter" pitchFamily="34" charset="0"/>
                <a:ea typeface="Inter" pitchFamily="34" charset="-122"/>
                <a:cs typeface="Inter" pitchFamily="34" charset="-120"/>
              </a:rPr>
              <a:t>Generate multiple passwords and choose the preferred one.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901184"/>
            <a:ext cx="6713577"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 Security Features</a:t>
            </a:r>
            <a:endParaRPr lang="en-US" sz="4450" dirty="0"/>
          </a:p>
        </p:txBody>
      </p:sp>
      <p:sp>
        <p:nvSpPr>
          <p:cNvPr id="3" name="Text 1"/>
          <p:cNvSpPr/>
          <p:nvPr/>
        </p:nvSpPr>
        <p:spPr>
          <a:xfrm>
            <a:off x="793790" y="2063591"/>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We implement multiple layers of security to safeguard your sensitive information, ensuring peace of mind.</a:t>
            </a:r>
            <a:endParaRPr lang="en-US" sz="1750" dirty="0"/>
          </a:p>
        </p:txBody>
      </p:sp>
      <p:sp>
        <p:nvSpPr>
          <p:cNvPr id="4" name="Shape 2"/>
          <p:cNvSpPr/>
          <p:nvPr/>
        </p:nvSpPr>
        <p:spPr>
          <a:xfrm>
            <a:off x="793790" y="2681645"/>
            <a:ext cx="13042821" cy="4646652"/>
          </a:xfrm>
          <a:prstGeom prst="roundRect">
            <a:avLst>
              <a:gd name="adj" fmla="val 732"/>
            </a:avLst>
          </a:prstGeom>
          <a:solidFill>
            <a:srgbClr val="EDEBE3"/>
          </a:solidFill>
          <a:ln/>
        </p:spPr>
      </p:sp>
      <p:sp>
        <p:nvSpPr>
          <p:cNvPr id="5" name="Shape 3"/>
          <p:cNvSpPr/>
          <p:nvPr/>
        </p:nvSpPr>
        <p:spPr>
          <a:xfrm>
            <a:off x="793790" y="2681645"/>
            <a:ext cx="6521410" cy="1669852"/>
          </a:xfrm>
          <a:prstGeom prst="roundRect">
            <a:avLst>
              <a:gd name="adj" fmla="val 2038"/>
            </a:avLst>
          </a:prstGeom>
          <a:solidFill>
            <a:srgbClr val="EDEBE3"/>
          </a:solidFill>
          <a:ln/>
        </p:spPr>
        <p:txBody>
          <a:bodyPr/>
          <a:lstStyle/>
          <a:p>
            <a:endParaRPr lang="en-US" dirty="0"/>
          </a:p>
        </p:txBody>
      </p:sp>
      <p:sp>
        <p:nvSpPr>
          <p:cNvPr id="6" name="Text 4"/>
          <p:cNvSpPr/>
          <p:nvPr/>
        </p:nvSpPr>
        <p:spPr>
          <a:xfrm>
            <a:off x="1020604" y="2908459"/>
            <a:ext cx="3538776"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Master Password Re-entry</a:t>
            </a:r>
            <a:endParaRPr lang="en-US" sz="2200" dirty="0"/>
          </a:p>
        </p:txBody>
      </p:sp>
      <p:sp>
        <p:nvSpPr>
          <p:cNvPr id="7" name="Text 5"/>
          <p:cNvSpPr/>
          <p:nvPr/>
        </p:nvSpPr>
        <p:spPr>
          <a:xfrm>
            <a:off x="1020604" y="3398877"/>
            <a:ext cx="5727621" cy="362903"/>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Required for viewing sensitive information.</a:t>
            </a:r>
            <a:endParaRPr lang="en-US" sz="1750" dirty="0"/>
          </a:p>
        </p:txBody>
      </p:sp>
      <p:sp>
        <p:nvSpPr>
          <p:cNvPr id="8" name="Shape 6"/>
          <p:cNvSpPr/>
          <p:nvPr/>
        </p:nvSpPr>
        <p:spPr>
          <a:xfrm>
            <a:off x="7315200" y="2681645"/>
            <a:ext cx="6521410" cy="1669852"/>
          </a:xfrm>
          <a:prstGeom prst="rect">
            <a:avLst/>
          </a:prstGeom>
          <a:solidFill>
            <a:srgbClr val="EDEBE3"/>
          </a:solidFill>
          <a:ln/>
        </p:spPr>
      </p:sp>
      <p:sp>
        <p:nvSpPr>
          <p:cNvPr id="9" name="Shape 7"/>
          <p:cNvSpPr/>
          <p:nvPr/>
        </p:nvSpPr>
        <p:spPr>
          <a:xfrm>
            <a:off x="7315200" y="2681645"/>
            <a:ext cx="30480" cy="1669852"/>
          </a:xfrm>
          <a:prstGeom prst="roundRect">
            <a:avLst>
              <a:gd name="adj" fmla="val 111628"/>
            </a:avLst>
          </a:prstGeom>
          <a:solidFill>
            <a:srgbClr val="D3D1C9"/>
          </a:solidFill>
          <a:ln/>
        </p:spPr>
      </p:sp>
      <p:sp>
        <p:nvSpPr>
          <p:cNvPr id="10" name="Text 8"/>
          <p:cNvSpPr/>
          <p:nvPr/>
        </p:nvSpPr>
        <p:spPr>
          <a:xfrm>
            <a:off x="7882176" y="290845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Verification Codes</a:t>
            </a:r>
            <a:endParaRPr lang="en-US" sz="2200" dirty="0"/>
          </a:p>
        </p:txBody>
      </p:sp>
      <p:sp>
        <p:nvSpPr>
          <p:cNvPr id="11" name="Text 9"/>
          <p:cNvSpPr/>
          <p:nvPr/>
        </p:nvSpPr>
        <p:spPr>
          <a:xfrm>
            <a:off x="7882176" y="3398877"/>
            <a:ext cx="5727621"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Email-based simulation for sensitive operations, expiring after single use or time limit.</a:t>
            </a:r>
            <a:endParaRPr lang="en-US" sz="1750" dirty="0"/>
          </a:p>
        </p:txBody>
      </p:sp>
      <p:sp>
        <p:nvSpPr>
          <p:cNvPr id="12" name="Shape 10"/>
          <p:cNvSpPr/>
          <p:nvPr/>
        </p:nvSpPr>
        <p:spPr>
          <a:xfrm>
            <a:off x="7031712" y="3233023"/>
            <a:ext cx="566976" cy="566976"/>
          </a:xfrm>
          <a:prstGeom prst="roundRect">
            <a:avLst>
              <a:gd name="adj" fmla="val 6001"/>
            </a:avLst>
          </a:prstGeom>
          <a:solidFill>
            <a:srgbClr val="F9F8F5"/>
          </a:solidFill>
          <a:ln w="30480">
            <a:solidFill>
              <a:srgbClr val="D3D1C9"/>
            </a:solidFill>
            <a:prstDash val="solid"/>
          </a:ln>
        </p:spPr>
      </p:sp>
      <p:pic>
        <p:nvPicPr>
          <p:cNvPr id="1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73397" y="3374708"/>
            <a:ext cx="283488" cy="283488"/>
          </a:xfrm>
          <a:prstGeom prst="rect">
            <a:avLst/>
          </a:prstGeom>
        </p:spPr>
      </p:pic>
      <p:sp>
        <p:nvSpPr>
          <p:cNvPr id="14" name="Shape 11"/>
          <p:cNvSpPr/>
          <p:nvPr/>
        </p:nvSpPr>
        <p:spPr>
          <a:xfrm>
            <a:off x="793790" y="4351496"/>
            <a:ext cx="6521410" cy="1306949"/>
          </a:xfrm>
          <a:prstGeom prst="rect">
            <a:avLst/>
          </a:prstGeom>
          <a:solidFill>
            <a:srgbClr val="EDEBE3"/>
          </a:solidFill>
          <a:ln/>
        </p:spPr>
      </p:sp>
      <p:sp>
        <p:nvSpPr>
          <p:cNvPr id="15" name="Shape 12"/>
          <p:cNvSpPr/>
          <p:nvPr/>
        </p:nvSpPr>
        <p:spPr>
          <a:xfrm>
            <a:off x="793790" y="4351496"/>
            <a:ext cx="6521410" cy="30480"/>
          </a:xfrm>
          <a:prstGeom prst="roundRect">
            <a:avLst>
              <a:gd name="adj" fmla="val 111628"/>
            </a:avLst>
          </a:prstGeom>
          <a:solidFill>
            <a:srgbClr val="D3D1C9"/>
          </a:solidFill>
          <a:ln/>
        </p:spPr>
      </p:sp>
      <p:sp>
        <p:nvSpPr>
          <p:cNvPr id="16" name="Text 13"/>
          <p:cNvSpPr/>
          <p:nvPr/>
        </p:nvSpPr>
        <p:spPr>
          <a:xfrm>
            <a:off x="1020604" y="4578310"/>
            <a:ext cx="3673673"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Password Strength Analysis</a:t>
            </a:r>
            <a:endParaRPr lang="en-US" sz="2200" dirty="0"/>
          </a:p>
        </p:txBody>
      </p:sp>
      <p:sp>
        <p:nvSpPr>
          <p:cNvPr id="17" name="Text 14"/>
          <p:cNvSpPr/>
          <p:nvPr/>
        </p:nvSpPr>
        <p:spPr>
          <a:xfrm>
            <a:off x="1020604" y="5068729"/>
            <a:ext cx="5727621" cy="362903"/>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View strength analysis for all stored passwords.</a:t>
            </a:r>
            <a:endParaRPr lang="en-US" sz="1750" dirty="0"/>
          </a:p>
        </p:txBody>
      </p:sp>
      <p:sp>
        <p:nvSpPr>
          <p:cNvPr id="18" name="Shape 15"/>
          <p:cNvSpPr/>
          <p:nvPr/>
        </p:nvSpPr>
        <p:spPr>
          <a:xfrm>
            <a:off x="7315200" y="4351496"/>
            <a:ext cx="6521410" cy="1306949"/>
          </a:xfrm>
          <a:prstGeom prst="rect">
            <a:avLst/>
          </a:prstGeom>
          <a:solidFill>
            <a:srgbClr val="EDEBE3"/>
          </a:solidFill>
          <a:ln/>
        </p:spPr>
      </p:sp>
      <p:sp>
        <p:nvSpPr>
          <p:cNvPr id="19" name="Shape 16"/>
          <p:cNvSpPr/>
          <p:nvPr/>
        </p:nvSpPr>
        <p:spPr>
          <a:xfrm>
            <a:off x="7315200" y="4351496"/>
            <a:ext cx="30480" cy="1306949"/>
          </a:xfrm>
          <a:prstGeom prst="roundRect">
            <a:avLst>
              <a:gd name="adj" fmla="val 111628"/>
            </a:avLst>
          </a:prstGeom>
          <a:solidFill>
            <a:srgbClr val="D3D1C9"/>
          </a:solidFill>
          <a:ln/>
        </p:spPr>
      </p:sp>
      <p:sp>
        <p:nvSpPr>
          <p:cNvPr id="20" name="Shape 17"/>
          <p:cNvSpPr/>
          <p:nvPr/>
        </p:nvSpPr>
        <p:spPr>
          <a:xfrm>
            <a:off x="7315200" y="4351496"/>
            <a:ext cx="6521410" cy="30480"/>
          </a:xfrm>
          <a:prstGeom prst="roundRect">
            <a:avLst>
              <a:gd name="adj" fmla="val 111628"/>
            </a:avLst>
          </a:prstGeom>
          <a:solidFill>
            <a:srgbClr val="D3D1C9"/>
          </a:solidFill>
          <a:ln/>
        </p:spPr>
      </p:sp>
      <p:sp>
        <p:nvSpPr>
          <p:cNvPr id="21" name="Text 18"/>
          <p:cNvSpPr/>
          <p:nvPr/>
        </p:nvSpPr>
        <p:spPr>
          <a:xfrm>
            <a:off x="7882176" y="457831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Security Alerts</a:t>
            </a:r>
            <a:endParaRPr lang="en-US" sz="2200" dirty="0"/>
          </a:p>
        </p:txBody>
      </p:sp>
      <p:sp>
        <p:nvSpPr>
          <p:cNvPr id="22" name="Text 19"/>
          <p:cNvSpPr/>
          <p:nvPr/>
        </p:nvSpPr>
        <p:spPr>
          <a:xfrm>
            <a:off x="7882176" y="5068729"/>
            <a:ext cx="5727621" cy="362903"/>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Receive notifications for weak or reused passwords.</a:t>
            </a:r>
            <a:endParaRPr lang="en-US" sz="1750" dirty="0"/>
          </a:p>
        </p:txBody>
      </p:sp>
      <p:sp>
        <p:nvSpPr>
          <p:cNvPr id="23" name="Shape 20"/>
          <p:cNvSpPr/>
          <p:nvPr/>
        </p:nvSpPr>
        <p:spPr>
          <a:xfrm>
            <a:off x="7031712" y="4721423"/>
            <a:ext cx="566976" cy="566976"/>
          </a:xfrm>
          <a:prstGeom prst="roundRect">
            <a:avLst>
              <a:gd name="adj" fmla="val 6001"/>
            </a:avLst>
          </a:prstGeom>
          <a:solidFill>
            <a:srgbClr val="F9F8F5"/>
          </a:solidFill>
          <a:ln w="30480">
            <a:solidFill>
              <a:srgbClr val="D3D1C9"/>
            </a:solidFill>
            <a:prstDash val="solid"/>
          </a:ln>
        </p:spPr>
      </p:sp>
      <p:pic>
        <p:nvPicPr>
          <p:cNvPr id="24"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73397" y="4863108"/>
            <a:ext cx="283488" cy="283488"/>
          </a:xfrm>
          <a:prstGeom prst="rect">
            <a:avLst/>
          </a:prstGeom>
        </p:spPr>
      </p:pic>
      <p:sp>
        <p:nvSpPr>
          <p:cNvPr id="25" name="Shape 21"/>
          <p:cNvSpPr/>
          <p:nvPr/>
        </p:nvSpPr>
        <p:spPr>
          <a:xfrm>
            <a:off x="793790" y="5658445"/>
            <a:ext cx="6521410" cy="1669852"/>
          </a:xfrm>
          <a:prstGeom prst="rect">
            <a:avLst/>
          </a:prstGeom>
          <a:solidFill>
            <a:srgbClr val="EDEBE3"/>
          </a:solidFill>
          <a:ln/>
        </p:spPr>
      </p:sp>
      <p:sp>
        <p:nvSpPr>
          <p:cNvPr id="26" name="Shape 22"/>
          <p:cNvSpPr/>
          <p:nvPr/>
        </p:nvSpPr>
        <p:spPr>
          <a:xfrm>
            <a:off x="793790" y="5658445"/>
            <a:ext cx="6521410" cy="30480"/>
          </a:xfrm>
          <a:prstGeom prst="roundRect">
            <a:avLst>
              <a:gd name="adj" fmla="val 111628"/>
            </a:avLst>
          </a:prstGeom>
          <a:solidFill>
            <a:srgbClr val="D3D1C9"/>
          </a:solidFill>
          <a:ln/>
        </p:spPr>
      </p:sp>
      <p:sp>
        <p:nvSpPr>
          <p:cNvPr id="27" name="Text 23"/>
          <p:cNvSpPr/>
          <p:nvPr/>
        </p:nvSpPr>
        <p:spPr>
          <a:xfrm>
            <a:off x="1020604" y="5885259"/>
            <a:ext cx="2884170"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Security Audit Report</a:t>
            </a:r>
            <a:endParaRPr lang="en-US" sz="2200" dirty="0"/>
          </a:p>
        </p:txBody>
      </p:sp>
      <p:sp>
        <p:nvSpPr>
          <p:cNvPr id="28" name="Text 24"/>
          <p:cNvSpPr/>
          <p:nvPr/>
        </p:nvSpPr>
        <p:spPr>
          <a:xfrm>
            <a:off x="1020604" y="6375678"/>
            <a:ext cx="5727621"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Comprehensive reports on weak, reused, and old passwords.</a:t>
            </a:r>
            <a:endParaRPr lang="en-US" sz="1750" dirty="0"/>
          </a:p>
        </p:txBody>
      </p:sp>
      <p:sp>
        <p:nvSpPr>
          <p:cNvPr id="29" name="Shape 25"/>
          <p:cNvSpPr/>
          <p:nvPr/>
        </p:nvSpPr>
        <p:spPr>
          <a:xfrm>
            <a:off x="7315200" y="5658445"/>
            <a:ext cx="6521410" cy="1669852"/>
          </a:xfrm>
          <a:prstGeom prst="rect">
            <a:avLst/>
          </a:prstGeom>
          <a:solidFill>
            <a:srgbClr val="EDEBE3"/>
          </a:solidFill>
          <a:ln/>
        </p:spPr>
      </p:sp>
      <p:sp>
        <p:nvSpPr>
          <p:cNvPr id="30" name="Shape 26"/>
          <p:cNvSpPr/>
          <p:nvPr/>
        </p:nvSpPr>
        <p:spPr>
          <a:xfrm>
            <a:off x="7315200" y="5658445"/>
            <a:ext cx="30480" cy="1669852"/>
          </a:xfrm>
          <a:prstGeom prst="roundRect">
            <a:avLst>
              <a:gd name="adj" fmla="val 111628"/>
            </a:avLst>
          </a:prstGeom>
          <a:solidFill>
            <a:srgbClr val="D3D1C9"/>
          </a:solidFill>
          <a:ln/>
        </p:spPr>
      </p:sp>
      <p:sp>
        <p:nvSpPr>
          <p:cNvPr id="31" name="Shape 27"/>
          <p:cNvSpPr/>
          <p:nvPr/>
        </p:nvSpPr>
        <p:spPr>
          <a:xfrm>
            <a:off x="7315200" y="5658445"/>
            <a:ext cx="6521410" cy="30480"/>
          </a:xfrm>
          <a:prstGeom prst="roundRect">
            <a:avLst>
              <a:gd name="adj" fmla="val 111628"/>
            </a:avLst>
          </a:prstGeom>
          <a:solidFill>
            <a:srgbClr val="D3D1C9"/>
          </a:solidFill>
          <a:ln/>
        </p:spPr>
      </p:sp>
      <p:sp>
        <p:nvSpPr>
          <p:cNvPr id="32" name="Text 28"/>
          <p:cNvSpPr/>
          <p:nvPr/>
        </p:nvSpPr>
        <p:spPr>
          <a:xfrm>
            <a:off x="7882176" y="588525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rPr>
              <a:t>Two-Factor Authentication</a:t>
            </a:r>
            <a:endParaRPr lang="en-US" sz="2200" dirty="0"/>
          </a:p>
        </p:txBody>
      </p:sp>
      <p:sp>
        <p:nvSpPr>
          <p:cNvPr id="33" name="Text 29"/>
          <p:cNvSpPr/>
          <p:nvPr/>
        </p:nvSpPr>
        <p:spPr>
          <a:xfrm>
            <a:off x="7882176" y="6375678"/>
            <a:ext cx="5727621"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Verifies with generated OTP’s via registered email.</a:t>
            </a:r>
            <a:endParaRPr lang="en-US" sz="1750" dirty="0"/>
          </a:p>
        </p:txBody>
      </p:sp>
      <p:sp>
        <p:nvSpPr>
          <p:cNvPr id="34" name="Shape 30"/>
          <p:cNvSpPr/>
          <p:nvPr/>
        </p:nvSpPr>
        <p:spPr>
          <a:xfrm>
            <a:off x="7031712" y="6209824"/>
            <a:ext cx="566976" cy="566976"/>
          </a:xfrm>
          <a:prstGeom prst="roundRect">
            <a:avLst>
              <a:gd name="adj" fmla="val 6001"/>
            </a:avLst>
          </a:prstGeom>
          <a:solidFill>
            <a:srgbClr val="F9F8F5"/>
          </a:solidFill>
          <a:ln w="30480">
            <a:solidFill>
              <a:srgbClr val="D3D1C9"/>
            </a:solidFill>
            <a:prstDash val="solid"/>
          </a:ln>
        </p:spPr>
      </p:sp>
      <p:pic>
        <p:nvPicPr>
          <p:cNvPr id="3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73397" y="6351508"/>
            <a:ext cx="283488" cy="2834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679972" y="482203"/>
            <a:ext cx="4737973" cy="510421"/>
          </a:xfrm>
          <a:prstGeom prst="rect">
            <a:avLst/>
          </a:prstGeom>
          <a:noFill/>
          <a:ln/>
        </p:spPr>
        <p:txBody>
          <a:bodyPr wrap="none" lIns="0" tIns="0" rIns="0" bIns="0" rtlCol="0" anchor="t"/>
          <a:lstStyle/>
          <a:p>
            <a:pPr marL="0" indent="0" algn="l">
              <a:lnSpc>
                <a:spcPts val="4000"/>
              </a:lnSpc>
              <a:buNone/>
            </a:pPr>
            <a:r>
              <a:rPr lang="en-US" sz="3200" dirty="0">
                <a:solidFill>
                  <a:srgbClr val="161613"/>
                </a:solidFill>
                <a:latin typeface="DM Sans Medium" pitchFamily="34" charset="0"/>
                <a:ea typeface="DM Sans Medium" pitchFamily="34" charset="-122"/>
                <a:cs typeface="DM Sans Medium" pitchFamily="34" charset="-120"/>
              </a:rPr>
              <a:t>Application Architecture</a:t>
            </a:r>
            <a:endParaRPr lang="en-US" sz="3200" dirty="0"/>
          </a:p>
        </p:txBody>
      </p:sp>
      <p:pic>
        <p:nvPicPr>
          <p:cNvPr id="3" name="Image 0" descr="preencoded.png"/>
          <p:cNvPicPr>
            <a:picLocks noChangeAspect="1"/>
          </p:cNvPicPr>
          <p:nvPr/>
        </p:nvPicPr>
        <p:blipFill>
          <a:blip r:embed="rId3"/>
          <a:stretch>
            <a:fillRect/>
          </a:stretch>
        </p:blipFill>
        <p:spPr>
          <a:xfrm>
            <a:off x="3514606" y="1227773"/>
            <a:ext cx="7601188" cy="5713333"/>
          </a:xfrm>
          <a:prstGeom prst="rect">
            <a:avLst/>
          </a:prstGeom>
        </p:spPr>
      </p:pic>
      <p:sp>
        <p:nvSpPr>
          <p:cNvPr id="4" name="Text 1"/>
          <p:cNvSpPr/>
          <p:nvPr/>
        </p:nvSpPr>
        <p:spPr>
          <a:xfrm>
            <a:off x="6618997" y="3965397"/>
            <a:ext cx="1386239" cy="633951"/>
          </a:xfrm>
          <a:prstGeom prst="rect">
            <a:avLst/>
          </a:prstGeom>
          <a:noFill/>
          <a:ln/>
        </p:spPr>
        <p:txBody>
          <a:bodyPr wrap="square" lIns="0" tIns="0" rIns="0" bIns="0" rtlCol="0" anchor="t"/>
          <a:lstStyle/>
          <a:p>
            <a:pPr marL="0" indent="0" algn="ctr">
              <a:lnSpc>
                <a:spcPts val="2450"/>
              </a:lnSpc>
              <a:buNone/>
            </a:pPr>
            <a:r>
              <a:rPr lang="en-US" sz="1950" dirty="0">
                <a:solidFill>
                  <a:srgbClr val="FFFFFF"/>
                </a:solidFill>
                <a:latin typeface="DM Sans Medium" pitchFamily="34" charset="0"/>
                <a:ea typeface="DM Sans Medium" pitchFamily="34" charset="-122"/>
                <a:cs typeface="DM Sans Medium" pitchFamily="34" charset="-120"/>
              </a:rPr>
              <a:t>Monolithic Web App</a:t>
            </a:r>
            <a:endParaRPr lang="en-US" sz="1950" dirty="0"/>
          </a:p>
        </p:txBody>
      </p:sp>
      <p:sp>
        <p:nvSpPr>
          <p:cNvPr id="5" name="Text 2"/>
          <p:cNvSpPr/>
          <p:nvPr/>
        </p:nvSpPr>
        <p:spPr>
          <a:xfrm>
            <a:off x="8692720" y="5466628"/>
            <a:ext cx="2062278" cy="316976"/>
          </a:xfrm>
          <a:prstGeom prst="rect">
            <a:avLst/>
          </a:prstGeom>
          <a:noFill/>
          <a:ln/>
        </p:spPr>
        <p:txBody>
          <a:bodyPr wrap="none" lIns="0" tIns="0" rIns="0" bIns="0" rtlCol="0" anchor="t"/>
          <a:lstStyle/>
          <a:p>
            <a:pPr marL="0" indent="0" algn="ctr">
              <a:lnSpc>
                <a:spcPts val="2450"/>
              </a:lnSpc>
              <a:buNone/>
            </a:pPr>
            <a:r>
              <a:rPr lang="en-US" sz="1950" dirty="0">
                <a:solidFill>
                  <a:srgbClr val="161613"/>
                </a:solidFill>
                <a:latin typeface="DM Sans Medium" pitchFamily="34" charset="0"/>
                <a:ea typeface="DM Sans Medium" pitchFamily="34" charset="-122"/>
                <a:cs typeface="DM Sans Medium" pitchFamily="34" charset="-120"/>
              </a:rPr>
              <a:t>Backend API</a:t>
            </a:r>
            <a:endParaRPr lang="en-US" sz="1950" dirty="0"/>
          </a:p>
        </p:txBody>
      </p:sp>
      <p:sp>
        <p:nvSpPr>
          <p:cNvPr id="6" name="Text 3"/>
          <p:cNvSpPr/>
          <p:nvPr/>
        </p:nvSpPr>
        <p:spPr>
          <a:xfrm>
            <a:off x="8692720" y="5873765"/>
            <a:ext cx="2062278" cy="436017"/>
          </a:xfrm>
          <a:prstGeom prst="rect">
            <a:avLst/>
          </a:prstGeom>
          <a:noFill/>
          <a:ln/>
        </p:spPr>
        <p:txBody>
          <a:bodyPr wrap="square" lIns="0" tIns="0" rIns="0" bIns="0" rtlCol="0" anchor="t"/>
          <a:lstStyle/>
          <a:p>
            <a:pPr marL="0" indent="0" algn="ctr">
              <a:lnSpc>
                <a:spcPts val="1700"/>
              </a:lnSpc>
              <a:buNone/>
            </a:pPr>
            <a:r>
              <a:rPr lang="en-US" sz="1550" dirty="0">
                <a:solidFill>
                  <a:srgbClr val="161613"/>
                </a:solidFill>
                <a:latin typeface="Inter" pitchFamily="34" charset="0"/>
                <a:ea typeface="Inter" pitchFamily="34" charset="-122"/>
                <a:cs typeface="Inter" pitchFamily="34" charset="-120"/>
              </a:rPr>
              <a:t>Application logic and routing</a:t>
            </a:r>
            <a:endParaRPr lang="en-US" sz="1550" dirty="0"/>
          </a:p>
        </p:txBody>
      </p:sp>
      <p:sp>
        <p:nvSpPr>
          <p:cNvPr id="7" name="Text 4"/>
          <p:cNvSpPr/>
          <p:nvPr/>
        </p:nvSpPr>
        <p:spPr>
          <a:xfrm>
            <a:off x="3857789" y="5575632"/>
            <a:ext cx="2062277" cy="316975"/>
          </a:xfrm>
          <a:prstGeom prst="rect">
            <a:avLst/>
          </a:prstGeom>
          <a:noFill/>
          <a:ln/>
        </p:spPr>
        <p:txBody>
          <a:bodyPr wrap="none" lIns="0" tIns="0" rIns="0" bIns="0" rtlCol="0" anchor="t"/>
          <a:lstStyle/>
          <a:p>
            <a:pPr marL="0" indent="0" algn="ctr">
              <a:lnSpc>
                <a:spcPts val="2450"/>
              </a:lnSpc>
              <a:buNone/>
            </a:pPr>
            <a:r>
              <a:rPr lang="en-US" sz="1950" dirty="0">
                <a:solidFill>
                  <a:srgbClr val="161613"/>
                </a:solidFill>
                <a:latin typeface="DM Sans Medium" pitchFamily="34" charset="0"/>
                <a:ea typeface="DM Sans Medium" pitchFamily="34" charset="-122"/>
                <a:cs typeface="DM Sans Medium" pitchFamily="34" charset="-120"/>
              </a:rPr>
              <a:t>Database</a:t>
            </a:r>
            <a:endParaRPr lang="en-US" sz="1950" dirty="0"/>
          </a:p>
        </p:txBody>
      </p:sp>
      <p:sp>
        <p:nvSpPr>
          <p:cNvPr id="8" name="Text 5"/>
          <p:cNvSpPr/>
          <p:nvPr/>
        </p:nvSpPr>
        <p:spPr>
          <a:xfrm>
            <a:off x="3857789" y="5982769"/>
            <a:ext cx="2062277" cy="218009"/>
          </a:xfrm>
          <a:prstGeom prst="rect">
            <a:avLst/>
          </a:prstGeom>
          <a:noFill/>
          <a:ln/>
        </p:spPr>
        <p:txBody>
          <a:bodyPr wrap="none" lIns="0" tIns="0" rIns="0" bIns="0" rtlCol="0" anchor="t"/>
          <a:lstStyle/>
          <a:p>
            <a:pPr marL="0" indent="0" algn="ctr">
              <a:lnSpc>
                <a:spcPts val="1700"/>
              </a:lnSpc>
              <a:buNone/>
            </a:pPr>
            <a:r>
              <a:rPr lang="en-US" sz="1550" dirty="0">
                <a:solidFill>
                  <a:srgbClr val="161613"/>
                </a:solidFill>
                <a:latin typeface="Inter" pitchFamily="34" charset="0"/>
                <a:ea typeface="Inter" pitchFamily="34" charset="-122"/>
                <a:cs typeface="Inter" pitchFamily="34" charset="-120"/>
              </a:rPr>
              <a:t>Persistent data store</a:t>
            </a:r>
            <a:endParaRPr lang="en-US" sz="1550" dirty="0"/>
          </a:p>
        </p:txBody>
      </p:sp>
      <p:sp>
        <p:nvSpPr>
          <p:cNvPr id="9" name="Text 6"/>
          <p:cNvSpPr/>
          <p:nvPr/>
        </p:nvSpPr>
        <p:spPr>
          <a:xfrm>
            <a:off x="6247079" y="1828279"/>
            <a:ext cx="2118628" cy="316975"/>
          </a:xfrm>
          <a:prstGeom prst="rect">
            <a:avLst/>
          </a:prstGeom>
          <a:noFill/>
          <a:ln/>
        </p:spPr>
        <p:txBody>
          <a:bodyPr wrap="none" lIns="0" tIns="0" rIns="0" bIns="0" rtlCol="0" anchor="t"/>
          <a:lstStyle/>
          <a:p>
            <a:pPr marL="0" indent="0" algn="ctr">
              <a:lnSpc>
                <a:spcPts val="2450"/>
              </a:lnSpc>
              <a:buNone/>
            </a:pPr>
            <a:r>
              <a:rPr lang="en-US" sz="1950" dirty="0">
                <a:solidFill>
                  <a:srgbClr val="161613"/>
                </a:solidFill>
                <a:latin typeface="DM Sans Medium" pitchFamily="34" charset="0"/>
                <a:ea typeface="DM Sans Medium" pitchFamily="34" charset="-122"/>
                <a:cs typeface="DM Sans Medium" pitchFamily="34" charset="-120"/>
              </a:rPr>
              <a:t>User Interface</a:t>
            </a:r>
            <a:endParaRPr lang="en-US" sz="1950" dirty="0"/>
          </a:p>
        </p:txBody>
      </p:sp>
      <p:sp>
        <p:nvSpPr>
          <p:cNvPr id="10" name="Text 7"/>
          <p:cNvSpPr/>
          <p:nvPr/>
        </p:nvSpPr>
        <p:spPr>
          <a:xfrm>
            <a:off x="6247079" y="2235416"/>
            <a:ext cx="2118628" cy="218009"/>
          </a:xfrm>
          <a:prstGeom prst="rect">
            <a:avLst/>
          </a:prstGeom>
          <a:noFill/>
          <a:ln/>
        </p:spPr>
        <p:txBody>
          <a:bodyPr wrap="none" lIns="0" tIns="0" rIns="0" bIns="0" rtlCol="0" anchor="t"/>
          <a:lstStyle/>
          <a:p>
            <a:pPr marL="0" indent="0" algn="ctr">
              <a:lnSpc>
                <a:spcPts val="1700"/>
              </a:lnSpc>
              <a:buNone/>
            </a:pPr>
            <a:r>
              <a:rPr lang="en-US" sz="1550" dirty="0">
                <a:solidFill>
                  <a:srgbClr val="161613"/>
                </a:solidFill>
                <a:latin typeface="Inter" pitchFamily="34" charset="0"/>
                <a:ea typeface="Inter" pitchFamily="34" charset="-122"/>
                <a:cs typeface="Inter" pitchFamily="34" charset="-120"/>
              </a:rPr>
              <a:t>Browser-facing client</a:t>
            </a:r>
            <a:endParaRPr lang="en-US" sz="1550" dirty="0"/>
          </a:p>
        </p:txBody>
      </p:sp>
      <p:sp>
        <p:nvSpPr>
          <p:cNvPr id="11" name="Text 8"/>
          <p:cNvSpPr/>
          <p:nvPr/>
        </p:nvSpPr>
        <p:spPr>
          <a:xfrm>
            <a:off x="1679972" y="7073384"/>
            <a:ext cx="11270456" cy="674013"/>
          </a:xfrm>
          <a:prstGeom prst="rect">
            <a:avLst/>
          </a:prstGeom>
          <a:noFill/>
          <a:ln/>
        </p:spPr>
        <p:txBody>
          <a:bodyPr wrap="square" lIns="0" tIns="0" rIns="0" bIns="0" rtlCol="0" anchor="t"/>
          <a:lstStyle/>
          <a:p>
            <a:pPr marL="0" indent="0" algn="l">
              <a:lnSpc>
                <a:spcPts val="1750"/>
              </a:lnSpc>
              <a:buNone/>
            </a:pPr>
            <a:r>
              <a:rPr lang="en-US" sz="1250" dirty="0">
                <a:solidFill>
                  <a:srgbClr val="161613"/>
                </a:solidFill>
                <a:latin typeface="Inter" pitchFamily="34" charset="0"/>
                <a:ea typeface="Inter" pitchFamily="34" charset="-122"/>
                <a:cs typeface="Inter" pitchFamily="34" charset="-120"/>
              </a:rPr>
              <a:t>The RevPasswordManager operates as a monolithic web application, integrating the User Interface, Backend API, and Database into a single, cohesive unit. This architecture simplifies development and deployment while maintaining strong performance and security for password management.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703189" y="662940"/>
            <a:ext cx="4066580" cy="508397"/>
          </a:xfrm>
          <a:prstGeom prst="rect">
            <a:avLst/>
          </a:prstGeom>
          <a:noFill/>
          <a:ln/>
        </p:spPr>
        <p:txBody>
          <a:bodyPr wrap="none" lIns="0" tIns="0" rIns="0" bIns="0" rtlCol="0" anchor="t"/>
          <a:lstStyle/>
          <a:p>
            <a:pPr marL="0" indent="0" algn="l">
              <a:lnSpc>
                <a:spcPts val="4000"/>
              </a:lnSpc>
              <a:buNone/>
            </a:pPr>
            <a:r>
              <a:rPr lang="en-US" sz="3200" dirty="0">
                <a:solidFill>
                  <a:srgbClr val="161613"/>
                </a:solidFill>
                <a:latin typeface="DM Sans Medium" pitchFamily="34" charset="0"/>
                <a:ea typeface="DM Sans Medium" pitchFamily="34" charset="-122"/>
                <a:cs typeface="DM Sans Medium" pitchFamily="34" charset="-120"/>
              </a:rPr>
              <a:t>System Architecture</a:t>
            </a:r>
            <a:endParaRPr lang="en-US" sz="3200" dirty="0"/>
          </a:p>
        </p:txBody>
      </p:sp>
      <p:sp>
        <p:nvSpPr>
          <p:cNvPr id="3" name="Text 1"/>
          <p:cNvSpPr/>
          <p:nvPr/>
        </p:nvSpPr>
        <p:spPr>
          <a:xfrm>
            <a:off x="1703189" y="1404580"/>
            <a:ext cx="11223903" cy="670084"/>
          </a:xfrm>
          <a:prstGeom prst="rect">
            <a:avLst/>
          </a:prstGeom>
          <a:noFill/>
          <a:ln/>
        </p:spPr>
        <p:txBody>
          <a:bodyPr wrap="square" lIns="0" tIns="0" rIns="0" bIns="0" rtlCol="0" anchor="t"/>
          <a:lstStyle/>
          <a:p>
            <a:pPr marL="0" indent="0" algn="l">
              <a:lnSpc>
                <a:spcPct val="150000"/>
              </a:lnSpc>
              <a:buNone/>
            </a:pPr>
            <a:r>
              <a:rPr lang="en-US" sz="1600" dirty="0">
                <a:solidFill>
                  <a:srgbClr val="161613"/>
                </a:solidFill>
                <a:latin typeface="Inter" pitchFamily="34" charset="0"/>
                <a:ea typeface="Inter" pitchFamily="34" charset="-122"/>
                <a:cs typeface="Inter" pitchFamily="34" charset="-120"/>
              </a:rPr>
              <a:t>Our system architecture ensures a robust and secure environment. User requests are handled by the Web Server, routed to the Application Server for business logic, and data is stored in the Database Server. A dedicated Authentication Service manages user identity and access, reinforcing overall system security.</a:t>
            </a:r>
            <a:endParaRPr lang="en-US" sz="1600" dirty="0"/>
          </a:p>
        </p:txBody>
      </p:sp>
      <p:sp>
        <p:nvSpPr>
          <p:cNvPr id="4" name="Text 2"/>
          <p:cNvSpPr/>
          <p:nvPr/>
        </p:nvSpPr>
        <p:spPr>
          <a:xfrm>
            <a:off x="1703189" y="2205871"/>
            <a:ext cx="11223903" cy="223361"/>
          </a:xfrm>
          <a:prstGeom prst="rect">
            <a:avLst/>
          </a:prstGeom>
          <a:noFill/>
          <a:ln/>
        </p:spPr>
        <p:txBody>
          <a:bodyPr wrap="none" lIns="0" tIns="0" rIns="0" bIns="0" rtlCol="0" anchor="t"/>
          <a:lstStyle/>
          <a:p>
            <a:pPr marL="0" indent="0" algn="l">
              <a:lnSpc>
                <a:spcPts val="1750"/>
              </a:lnSpc>
              <a:buNone/>
            </a:pPr>
            <a:endParaRPr lang="en-US" sz="1250" dirty="0"/>
          </a:p>
        </p:txBody>
      </p:sp>
      <p:pic>
        <p:nvPicPr>
          <p:cNvPr id="5" name="Image 0" descr="preencoded.png"/>
          <p:cNvPicPr>
            <a:picLocks noChangeAspect="1"/>
          </p:cNvPicPr>
          <p:nvPr/>
        </p:nvPicPr>
        <p:blipFill>
          <a:blip r:embed="rId3"/>
          <a:stretch>
            <a:fillRect/>
          </a:stretch>
        </p:blipFill>
        <p:spPr>
          <a:xfrm>
            <a:off x="2338808" y="2803326"/>
            <a:ext cx="9353193" cy="4651653"/>
          </a:xfrm>
          <a:prstGeom prst="rect">
            <a:avLst/>
          </a:prstGeom>
        </p:spPr>
      </p:pic>
      <p:sp>
        <p:nvSpPr>
          <p:cNvPr id="6" name="Text 3"/>
          <p:cNvSpPr/>
          <p:nvPr/>
        </p:nvSpPr>
        <p:spPr>
          <a:xfrm>
            <a:off x="1703189" y="7343299"/>
            <a:ext cx="11223903" cy="223361"/>
          </a:xfrm>
          <a:prstGeom prst="rect">
            <a:avLst/>
          </a:prstGeom>
          <a:noFill/>
          <a:ln/>
        </p:spPr>
        <p:txBody>
          <a:bodyPr wrap="none" lIns="0" tIns="0" rIns="0" bIns="0" rtlCol="0" anchor="t"/>
          <a:lstStyle/>
          <a:p>
            <a:pPr marL="0" indent="0" algn="l">
              <a:lnSpc>
                <a:spcPts val="1750"/>
              </a:lnSpc>
              <a:buNone/>
            </a:pP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3760351"/>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sp>
        <p:nvSpPr>
          <p:cNvPr id="3" name="TextBox 2">
            <a:extLst>
              <a:ext uri="{FF2B5EF4-FFF2-40B4-BE49-F238E27FC236}">
                <a16:creationId xmlns:a16="http://schemas.microsoft.com/office/drawing/2014/main" id="{596439AD-6B6E-7DD6-08EE-22217B9A8D4F}"/>
              </a:ext>
            </a:extLst>
          </p:cNvPr>
          <p:cNvSpPr txBox="1"/>
          <p:nvPr/>
        </p:nvSpPr>
        <p:spPr>
          <a:xfrm>
            <a:off x="1371600" y="936702"/>
            <a:ext cx="12009863" cy="5327099"/>
          </a:xfrm>
          <a:prstGeom prst="rect">
            <a:avLst/>
          </a:prstGeom>
          <a:noFill/>
        </p:spPr>
        <p:txBody>
          <a:bodyPr wrap="square" rtlCol="0">
            <a:spAutoFit/>
          </a:bodyPr>
          <a:lstStyle/>
          <a:p>
            <a:r>
              <a:rPr lang="en-US" sz="3600" b="1" dirty="0">
                <a:latin typeface="DM Sans Medium" pitchFamily="2" charset="0"/>
              </a:rPr>
              <a:t>Future Enhancements</a:t>
            </a:r>
          </a:p>
          <a:p>
            <a:endParaRPr lang="en-US" sz="2800" b="1" dirty="0">
              <a:latin typeface="DM Sans Medium" pitchFamily="2" charset="0"/>
            </a:endParaRPr>
          </a:p>
          <a:p>
            <a:endParaRPr lang="en-US" sz="2800" b="1" dirty="0">
              <a:latin typeface="DM Sans Medium" pitchFamily="2" charset="0"/>
            </a:endParaRPr>
          </a:p>
          <a:p>
            <a:pPr>
              <a:lnSpc>
                <a:spcPct val="150000"/>
              </a:lnSpc>
              <a:buFont typeface="Arial" panose="020B0604020202020204" pitchFamily="34" charset="0"/>
              <a:buChar char="•"/>
            </a:pPr>
            <a:r>
              <a:rPr lang="en-US" sz="2800" b="1" dirty="0">
                <a:latin typeface="DM Sans Medium" pitchFamily="2" charset="0"/>
              </a:rPr>
              <a:t> Cloud synchronization</a:t>
            </a:r>
            <a:r>
              <a:rPr lang="en-US" sz="2800" dirty="0">
                <a:latin typeface="DM Sans Medium" pitchFamily="2" charset="0"/>
              </a:rPr>
              <a:t> .</a:t>
            </a:r>
          </a:p>
          <a:p>
            <a:pPr>
              <a:lnSpc>
                <a:spcPct val="150000"/>
              </a:lnSpc>
              <a:buFont typeface="Arial" panose="020B0604020202020204" pitchFamily="34" charset="0"/>
              <a:buChar char="•"/>
            </a:pPr>
            <a:r>
              <a:rPr lang="en-US" sz="2800" dirty="0">
                <a:latin typeface="DM Sans Medium" pitchFamily="2" charset="0"/>
              </a:rPr>
              <a:t> Develop a </a:t>
            </a:r>
            <a:r>
              <a:rPr lang="en-US" sz="2800" b="1" dirty="0">
                <a:latin typeface="DM Sans Medium" pitchFamily="2" charset="0"/>
              </a:rPr>
              <a:t>mobile application (Android and iOS)</a:t>
            </a:r>
            <a:r>
              <a:rPr lang="en-US" sz="2800" dirty="0">
                <a:latin typeface="DM Sans Medium" pitchFamily="2" charset="0"/>
              </a:rPr>
              <a:t> .</a:t>
            </a:r>
          </a:p>
          <a:p>
            <a:pPr>
              <a:lnSpc>
                <a:spcPct val="150000"/>
              </a:lnSpc>
              <a:buFont typeface="Arial" panose="020B0604020202020204" pitchFamily="34" charset="0"/>
              <a:buChar char="•"/>
            </a:pPr>
            <a:r>
              <a:rPr lang="en-US" sz="2800" b="1" dirty="0">
                <a:latin typeface="DM Sans Medium" pitchFamily="2" charset="0"/>
              </a:rPr>
              <a:t> Browser extension Support .</a:t>
            </a:r>
            <a:endParaRPr lang="en-US" sz="2800" dirty="0">
              <a:latin typeface="DM Sans Medium" pitchFamily="2" charset="0"/>
            </a:endParaRPr>
          </a:p>
          <a:p>
            <a:pPr>
              <a:lnSpc>
                <a:spcPct val="150000"/>
              </a:lnSpc>
              <a:buFont typeface="Arial" panose="020B0604020202020204" pitchFamily="34" charset="0"/>
              <a:buChar char="•"/>
            </a:pPr>
            <a:r>
              <a:rPr lang="en-US" sz="2800" b="1" dirty="0">
                <a:latin typeface="DM Sans Medium" pitchFamily="2" charset="0"/>
              </a:rPr>
              <a:t> Biometric authentication .</a:t>
            </a:r>
          </a:p>
          <a:p>
            <a:pPr>
              <a:lnSpc>
                <a:spcPct val="150000"/>
              </a:lnSpc>
              <a:buFont typeface="Arial" panose="020B0604020202020204" pitchFamily="34" charset="0"/>
              <a:buChar char="•"/>
            </a:pPr>
            <a:r>
              <a:rPr lang="en-US" sz="2800" dirty="0">
                <a:latin typeface="DM Sans Medium" pitchFamily="2" charset="0"/>
              </a:rPr>
              <a:t> Dark Web Monitoring</a:t>
            </a:r>
            <a:endParaRPr lang="en-US" sz="2800" b="1" dirty="0">
              <a:latin typeface="DM Sans Medium" pitchFamily="2" charset="0"/>
            </a:endParaRPr>
          </a:p>
          <a:p>
            <a:pPr>
              <a:lnSpc>
                <a:spcPct val="150000"/>
              </a:lnSpc>
              <a:buFont typeface="Arial" panose="020B0604020202020204" pitchFamily="34" charset="0"/>
              <a:buChar char="•"/>
            </a:pPr>
            <a:endParaRPr lang="en-US" sz="2800" dirty="0">
              <a:latin typeface="DM Sans Medium" pitchFamily="2"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E54AAED-B4E1-BB7F-C4F7-E614E42B5CD4}"/>
              </a:ext>
            </a:extLst>
          </p:cNvPr>
          <p:cNvSpPr txBox="1"/>
          <p:nvPr/>
        </p:nvSpPr>
        <p:spPr>
          <a:xfrm>
            <a:off x="1505415" y="894931"/>
            <a:ext cx="11407697" cy="584775"/>
          </a:xfrm>
          <a:prstGeom prst="rect">
            <a:avLst/>
          </a:prstGeom>
          <a:noFill/>
        </p:spPr>
        <p:txBody>
          <a:bodyPr wrap="square" rtlCol="0">
            <a:spAutoFit/>
          </a:bodyPr>
          <a:lstStyle/>
          <a:p>
            <a:r>
              <a:rPr lang="en-US" sz="3200" b="1" u="sng" dirty="0"/>
              <a:t>Conclusion</a:t>
            </a:r>
          </a:p>
        </p:txBody>
      </p:sp>
      <p:sp>
        <p:nvSpPr>
          <p:cNvPr id="8" name="TextBox 7">
            <a:extLst>
              <a:ext uri="{FF2B5EF4-FFF2-40B4-BE49-F238E27FC236}">
                <a16:creationId xmlns:a16="http://schemas.microsoft.com/office/drawing/2014/main" id="{4F93AE32-A041-1197-669E-85254C467D02}"/>
              </a:ext>
            </a:extLst>
          </p:cNvPr>
          <p:cNvSpPr txBox="1"/>
          <p:nvPr/>
        </p:nvSpPr>
        <p:spPr>
          <a:xfrm>
            <a:off x="1405053" y="1572322"/>
            <a:ext cx="11864897" cy="5577681"/>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DM Sans Medium" pitchFamily="2" charset="0"/>
              </a:rPr>
              <a:t>The </a:t>
            </a:r>
            <a:r>
              <a:rPr kumimoji="0" lang="en-US" altLang="en-US" sz="2400" b="1" i="0" u="none" strike="noStrike" cap="none" normalizeH="0" baseline="0" dirty="0" err="1">
                <a:ln>
                  <a:noFill/>
                </a:ln>
                <a:solidFill>
                  <a:schemeClr val="tx1"/>
                </a:solidFill>
                <a:effectLst/>
                <a:latin typeface="DM Sans Medium" pitchFamily="2" charset="0"/>
              </a:rPr>
              <a:t>RevPassword</a:t>
            </a:r>
            <a:r>
              <a:rPr kumimoji="0" lang="en-US" altLang="en-US" sz="2400" b="1" i="0" u="none" strike="noStrike" cap="none" normalizeH="0" baseline="0" dirty="0">
                <a:ln>
                  <a:noFill/>
                </a:ln>
                <a:solidFill>
                  <a:schemeClr val="tx1"/>
                </a:solidFill>
                <a:effectLst/>
                <a:latin typeface="DM Sans Medium" pitchFamily="2" charset="0"/>
              </a:rPr>
              <a:t> Manager</a:t>
            </a:r>
            <a:r>
              <a:rPr kumimoji="0" lang="en-US" altLang="en-US" sz="2400" b="0" i="0" u="none" strike="noStrike" cap="none" normalizeH="0" baseline="0" dirty="0">
                <a:ln>
                  <a:noFill/>
                </a:ln>
                <a:solidFill>
                  <a:schemeClr val="tx1"/>
                </a:solidFill>
                <a:effectLst/>
                <a:latin typeface="DM Sans Medium" pitchFamily="2" charset="0"/>
              </a:rPr>
              <a:t> provides a secure and efficient way to manage digital credentials.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DM Sans Medium" pitchFamily="2" charset="0"/>
              </a:rPr>
              <a:t>It allows users to </a:t>
            </a:r>
            <a:r>
              <a:rPr kumimoji="0" lang="en-US" altLang="en-US" sz="2400" b="1" i="0" u="none" strike="noStrike" cap="none" normalizeH="0" baseline="0" dirty="0">
                <a:ln>
                  <a:noFill/>
                </a:ln>
                <a:solidFill>
                  <a:schemeClr val="tx1"/>
                </a:solidFill>
                <a:effectLst/>
                <a:latin typeface="DM Sans Medium" pitchFamily="2" charset="0"/>
              </a:rPr>
              <a:t>store, generate, and manage passwords safely</a:t>
            </a:r>
            <a:r>
              <a:rPr kumimoji="0" lang="en-US" altLang="en-US" sz="2400" b="0" i="0" u="none" strike="noStrike" cap="none" normalizeH="0" baseline="0" dirty="0">
                <a:ln>
                  <a:noFill/>
                </a:ln>
                <a:solidFill>
                  <a:schemeClr val="tx1"/>
                </a:solidFill>
                <a:effectLst/>
                <a:latin typeface="DM Sans Medium" pitchFamily="2" charset="0"/>
              </a:rPr>
              <a:t> in an encrypted vault.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DM Sans Medium" pitchFamily="2" charset="0"/>
              </a:rPr>
              <a:t>Security mechanisms such as </a:t>
            </a:r>
            <a:r>
              <a:rPr kumimoji="0" lang="en-US" altLang="en-US" sz="2400" b="1" i="0" u="none" strike="noStrike" cap="none" normalizeH="0" baseline="0" dirty="0" err="1">
                <a:ln>
                  <a:noFill/>
                </a:ln>
                <a:solidFill>
                  <a:schemeClr val="tx1"/>
                </a:solidFill>
                <a:effectLst/>
                <a:latin typeface="DM Sans Medium" pitchFamily="2" charset="0"/>
              </a:rPr>
              <a:t>BCrypt</a:t>
            </a:r>
            <a:r>
              <a:rPr kumimoji="0" lang="en-US" altLang="en-US" sz="2400" b="1" i="0" u="none" strike="noStrike" cap="none" normalizeH="0" baseline="0" dirty="0">
                <a:ln>
                  <a:noFill/>
                </a:ln>
                <a:solidFill>
                  <a:schemeClr val="tx1"/>
                </a:solidFill>
                <a:effectLst/>
                <a:latin typeface="DM Sans Medium" pitchFamily="2" charset="0"/>
              </a:rPr>
              <a:t> hashing, AES-256 encryption, and two-factor authentication</a:t>
            </a:r>
            <a:r>
              <a:rPr kumimoji="0" lang="en-US" altLang="en-US" sz="2400" b="0" i="0" u="none" strike="noStrike" cap="none" normalizeH="0" baseline="0" dirty="0">
                <a:ln>
                  <a:noFill/>
                </a:ln>
                <a:solidFill>
                  <a:schemeClr val="tx1"/>
                </a:solidFill>
                <a:effectLst/>
                <a:latin typeface="DM Sans Medium" pitchFamily="2" charset="0"/>
              </a:rPr>
              <a:t> ensure strong protection of sensitive data.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DM Sans Medium" pitchFamily="2" charset="0"/>
              </a:rPr>
              <a:t>The system is built using </a:t>
            </a:r>
            <a:r>
              <a:rPr kumimoji="0" lang="en-US" altLang="en-US" sz="2400" b="1" i="0" u="none" strike="noStrike" cap="none" normalizeH="0" baseline="0" dirty="0">
                <a:ln>
                  <a:noFill/>
                </a:ln>
                <a:solidFill>
                  <a:schemeClr val="tx1"/>
                </a:solidFill>
                <a:effectLst/>
                <a:latin typeface="DM Sans Medium" pitchFamily="2" charset="0"/>
              </a:rPr>
              <a:t>Spring Boot, MVC architecture, and Oracle Database</a:t>
            </a:r>
            <a:r>
              <a:rPr kumimoji="0" lang="en-US" altLang="en-US" sz="2400" b="0" i="0" u="none" strike="noStrike" cap="none" normalizeH="0" baseline="0" dirty="0">
                <a:ln>
                  <a:noFill/>
                </a:ln>
                <a:solidFill>
                  <a:schemeClr val="tx1"/>
                </a:solidFill>
                <a:effectLst/>
                <a:latin typeface="DM Sans Medium" pitchFamily="2" charset="0"/>
              </a:rPr>
              <a:t>, making it scalable and maintainable.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DM Sans Medium" pitchFamily="2" charset="0"/>
              </a:rPr>
              <a:t>Overall, the application improves </a:t>
            </a:r>
            <a:r>
              <a:rPr kumimoji="0" lang="en-US" altLang="en-US" sz="2400" b="1" i="0" u="none" strike="noStrike" cap="none" normalizeH="0" baseline="0" dirty="0">
                <a:ln>
                  <a:noFill/>
                </a:ln>
                <a:solidFill>
                  <a:schemeClr val="tx1"/>
                </a:solidFill>
                <a:effectLst/>
                <a:latin typeface="DM Sans Medium" pitchFamily="2" charset="0"/>
              </a:rPr>
              <a:t>password security, user convenience, and protection against cyber threats</a:t>
            </a:r>
            <a:r>
              <a:rPr kumimoji="0" lang="en-US" altLang="en-US" sz="24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91001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51C4C8-3102-7948-277F-9AE61170DF61}"/>
              </a:ext>
            </a:extLst>
          </p:cNvPr>
          <p:cNvSpPr txBox="1"/>
          <p:nvPr/>
        </p:nvSpPr>
        <p:spPr>
          <a:xfrm>
            <a:off x="5876694" y="3468029"/>
            <a:ext cx="10114156" cy="707886"/>
          </a:xfrm>
          <a:prstGeom prst="rect">
            <a:avLst/>
          </a:prstGeom>
          <a:noFill/>
        </p:spPr>
        <p:txBody>
          <a:bodyPr wrap="square" rtlCol="0">
            <a:spAutoFit/>
          </a:bodyPr>
          <a:lstStyle/>
          <a:p>
            <a:r>
              <a:rPr lang="en-US" sz="4000" b="1" dirty="0"/>
              <a:t>Thank  You !!</a:t>
            </a:r>
          </a:p>
        </p:txBody>
      </p:sp>
    </p:spTree>
    <p:extLst>
      <p:ext uri="{BB962C8B-B14F-4D97-AF65-F5344CB8AC3E}">
        <p14:creationId xmlns:p14="http://schemas.microsoft.com/office/powerpoint/2010/main" val="10230920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222</TotalTime>
  <Words>894</Words>
  <Application>Microsoft Office PowerPoint</Application>
  <PresentationFormat>Custom</PresentationFormat>
  <Paragraphs>123</Paragraphs>
  <Slides>14</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DM Sans Medium</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Charitha Palagani</dc:creator>
  <cp:lastModifiedBy>Charitha Palagani</cp:lastModifiedBy>
  <cp:revision>14</cp:revision>
  <dcterms:created xsi:type="dcterms:W3CDTF">2026-03-04T07:32:30Z</dcterms:created>
  <dcterms:modified xsi:type="dcterms:W3CDTF">2026-03-04T16:50:39Z</dcterms:modified>
</cp:coreProperties>
</file>